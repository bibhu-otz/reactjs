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59" r:id="rId7"/>
    <p:sldId id="273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20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02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8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759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0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65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56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247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996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69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19433-4FA0-4381-9A71-BC793634F6F0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FDF83-BDFF-46CA-B8A9-E82EA95A0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43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1" y="992187"/>
            <a:ext cx="9753600" cy="935037"/>
          </a:xfrm>
        </p:spPr>
        <p:txBody>
          <a:bodyPr>
            <a:noAutofit/>
          </a:bodyPr>
          <a:lstStyle/>
          <a:p>
            <a:r>
              <a:rPr lang="en-US" sz="7200" b="1" dirty="0" smtClean="0">
                <a:solidFill>
                  <a:srgbClr val="990000"/>
                </a:solidFill>
                <a:latin typeface="Bell MT" panose="02020503060305020303" pitchFamily="18" charset="0"/>
              </a:rPr>
              <a:t>PROJECT TRAINING</a:t>
            </a:r>
            <a:endParaRPr lang="en-IN" sz="7200" b="1" dirty="0">
              <a:solidFill>
                <a:srgbClr val="99000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1" y="2169271"/>
            <a:ext cx="9144000" cy="56048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B0F0"/>
                </a:solidFill>
                <a:latin typeface="Bell MT" panose="02020503060305020303" pitchFamily="18" charset="0"/>
              </a:rPr>
              <a:t>Learn to How To Build Project From Scratch</a:t>
            </a:r>
            <a:endParaRPr lang="en-IN" sz="3200" dirty="0">
              <a:solidFill>
                <a:srgbClr val="00B0F0"/>
              </a:solidFill>
              <a:latin typeface="Bell MT" panose="02020503060305020303" pitchFamily="18" charset="0"/>
            </a:endParaRPr>
          </a:p>
        </p:txBody>
      </p:sp>
      <p:pic>
        <p:nvPicPr>
          <p:cNvPr id="1026" name="Picture 2" descr="Men teamwork with gears induatry and bulb ide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505" y="2874587"/>
            <a:ext cx="5755341" cy="35499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08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730" y="584480"/>
            <a:ext cx="7646894" cy="625755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solidFill>
                  <a:srgbClr val="990000"/>
                </a:solidFill>
                <a:latin typeface="Bell MT" panose="02020503060305020303" pitchFamily="18" charset="0"/>
              </a:rPr>
              <a:t>Agenda</a:t>
            </a:r>
            <a:endParaRPr lang="en-IN" sz="4400" b="1" dirty="0">
              <a:solidFill>
                <a:srgbClr val="990000"/>
              </a:solidFill>
              <a:latin typeface="Bell MT" panose="02020503060305020303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035" y="0"/>
            <a:ext cx="5723964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600634" y="1407476"/>
            <a:ext cx="952500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Project 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Overview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Technology 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Stack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Step-by-Step Lesson Plan </a:t>
            </a:r>
            <a:endParaRPr lang="en-US" sz="2800" b="1" dirty="0" smtClean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Frontend and Backend 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Development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b="1" dirty="0" smtClean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Testing and Deployment</a:t>
            </a:r>
            <a:endParaRPr lang="en-IN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506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0634" y="436563"/>
            <a:ext cx="7646894" cy="625755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solidFill>
                  <a:srgbClr val="990000"/>
                </a:solidFill>
                <a:latin typeface="Bell MT" panose="02020503060305020303" pitchFamily="18" charset="0"/>
              </a:rPr>
              <a:t>Project Overview</a:t>
            </a:r>
            <a:endParaRPr lang="en-IN" sz="4400" b="1" dirty="0">
              <a:solidFill>
                <a:srgbClr val="990000"/>
              </a:solidFill>
              <a:latin typeface="Bell MT" panose="020205030603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0634" y="1241846"/>
            <a:ext cx="952500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A web application for managing employee data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.</a:t>
            </a:r>
          </a:p>
          <a:p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Features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:</a:t>
            </a:r>
          </a:p>
          <a:p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        </a:t>
            </a:r>
            <a:r>
              <a:rPr lang="en-US" sz="2800" b="1" dirty="0" smtClean="0">
                <a:solidFill>
                  <a:srgbClr val="002060"/>
                </a:solidFill>
                <a:latin typeface="Bell MT" panose="02020503060305020303" pitchFamily="18" charset="0"/>
              </a:rPr>
              <a:t>Guest </a:t>
            </a: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Module</a:t>
            </a: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: View/Search Employees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.</a:t>
            </a:r>
          </a:p>
          <a:p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        </a:t>
            </a:r>
            <a:r>
              <a:rPr lang="en-US" sz="2800" b="1" dirty="0" smtClean="0">
                <a:solidFill>
                  <a:srgbClr val="002060"/>
                </a:solidFill>
                <a:latin typeface="Bell MT" panose="02020503060305020303" pitchFamily="18" charset="0"/>
              </a:rPr>
              <a:t>Admin </a:t>
            </a: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Module: </a:t>
            </a: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Add, Edit, Delete Employees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.</a:t>
            </a:r>
          </a:p>
          <a:p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Goal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:</a:t>
            </a:r>
          </a:p>
          <a:p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 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        </a:t>
            </a:r>
          </a:p>
          <a:p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 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            </a:t>
            </a:r>
            <a:r>
              <a:rPr lang="en-US" sz="2800" b="1" dirty="0" smtClean="0">
                <a:solidFill>
                  <a:srgbClr val="002060"/>
                </a:solidFill>
                <a:latin typeface="Bell MT" panose="02020503060305020303" pitchFamily="18" charset="0"/>
              </a:rPr>
              <a:t>Introduce </a:t>
            </a: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students to full-stack development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.</a:t>
            </a:r>
            <a:endParaRPr lang="en-US" sz="2800" b="1" dirty="0" smtClean="0">
              <a:solidFill>
                <a:srgbClr val="0070C0"/>
              </a:solidFill>
              <a:latin typeface="Bell MT" panose="02020503060305020303" pitchFamily="18" charset="0"/>
            </a:endParaRPr>
          </a:p>
        </p:txBody>
      </p:sp>
      <p:pic>
        <p:nvPicPr>
          <p:cNvPr id="2050" name="Picture 2" descr="Programming background coll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215" y="1613648"/>
            <a:ext cx="3413796" cy="36576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312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0634" y="436563"/>
            <a:ext cx="7646894" cy="625755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solidFill>
                  <a:srgbClr val="990000"/>
                </a:solidFill>
                <a:latin typeface="Bell MT" panose="02020503060305020303" pitchFamily="18" charset="0"/>
              </a:rPr>
              <a:t>Technology Stack</a:t>
            </a:r>
            <a:endParaRPr lang="en-IN" sz="4400" b="1" dirty="0">
              <a:solidFill>
                <a:srgbClr val="990000"/>
              </a:solidFill>
              <a:latin typeface="Bell MT" panose="020205030603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0634" y="1195534"/>
            <a:ext cx="1058731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Frontend: </a:t>
            </a: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HTML5, CSS3, JavaScript, Bootstrap, jQuery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.</a:t>
            </a:r>
          </a:p>
          <a:p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Backend:</a:t>
            </a: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 Spring Boot, RESTful APIs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.</a:t>
            </a:r>
            <a:endParaRPr lang="en-US" sz="2800" b="1" dirty="0" smtClean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Database: </a:t>
            </a: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MySQL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Development Tools: 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Eclipse</a:t>
            </a:r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, Postman, MySQL Workbench.</a:t>
            </a:r>
            <a:endParaRPr lang="en-US" sz="2800" b="1" dirty="0" smtClean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r>
              <a:rPr lang="en-US" sz="2800" b="1" dirty="0">
                <a:solidFill>
                  <a:srgbClr val="0070C0"/>
                </a:solidFill>
                <a:latin typeface="Bell MT" panose="02020503060305020303" pitchFamily="18" charset="0"/>
              </a:rPr>
              <a:t> </a:t>
            </a:r>
            <a:r>
              <a:rPr lang="en-US" sz="2800" b="1" dirty="0" smtClean="0">
                <a:solidFill>
                  <a:srgbClr val="0070C0"/>
                </a:solidFill>
                <a:latin typeface="Bell MT" panose="02020503060305020303" pitchFamily="18" charset="0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0634" y="4868180"/>
            <a:ext cx="11389658" cy="122799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" descr="W3C HTML5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57" y="5069185"/>
            <a:ext cx="816253" cy="8162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053" y="5056139"/>
            <a:ext cx="840554" cy="8405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5"/>
          <a:srcRect l="28206" r="27754"/>
          <a:stretch/>
        </p:blipFill>
        <p:spPr>
          <a:xfrm>
            <a:off x="2608750" y="5069186"/>
            <a:ext cx="858187" cy="8076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6"/>
          <a:srcRect l="11946" t="16353" r="10531" b="14381"/>
          <a:stretch/>
        </p:blipFill>
        <p:spPr>
          <a:xfrm>
            <a:off x="3450003" y="5056139"/>
            <a:ext cx="1050509" cy="9386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789" y="5133077"/>
            <a:ext cx="893486" cy="7543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8"/>
          <a:srcRect l="19304" t="17256" r="19235" b="18823"/>
          <a:stretch/>
        </p:blipFill>
        <p:spPr>
          <a:xfrm>
            <a:off x="6435454" y="5084613"/>
            <a:ext cx="780075" cy="8392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7768" y="5088998"/>
            <a:ext cx="807695" cy="8076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5034" y="5111507"/>
            <a:ext cx="980684" cy="8076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1550" y="5111507"/>
            <a:ext cx="841091" cy="8299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5" name="Picture 14" descr="How We Built Postman—the Product and the Company | Postman Blo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554" y="5084613"/>
            <a:ext cx="854563" cy="8545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55030" y="5084613"/>
            <a:ext cx="866714" cy="8667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578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057" y="450010"/>
            <a:ext cx="7646894" cy="625755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solidFill>
                  <a:srgbClr val="990000"/>
                </a:solidFill>
                <a:latin typeface="Bell MT" panose="02020503060305020303" pitchFamily="18" charset="0"/>
              </a:rPr>
              <a:t> Lesson Plan</a:t>
            </a:r>
            <a:endParaRPr lang="en-IN" sz="4400" b="1" dirty="0">
              <a:solidFill>
                <a:srgbClr val="990000"/>
              </a:solidFill>
              <a:latin typeface="Bell MT" panose="020205030603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0634" y="1195534"/>
            <a:ext cx="105873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 smtClean="0">
                <a:solidFill>
                  <a:srgbClr val="002060"/>
                </a:solidFill>
              </a:rPr>
              <a:t>Introduction </a:t>
            </a:r>
            <a:r>
              <a:rPr lang="en-IN" sz="2800" b="1" dirty="0">
                <a:solidFill>
                  <a:srgbClr val="002060"/>
                </a:solidFill>
              </a:rPr>
              <a:t>to </a:t>
            </a:r>
            <a:r>
              <a:rPr lang="en-IN" sz="2800" b="1" dirty="0" smtClean="0">
                <a:solidFill>
                  <a:srgbClr val="002060"/>
                </a:solidFill>
              </a:rPr>
              <a:t>technologies</a:t>
            </a:r>
            <a:endParaRPr lang="en-US" sz="2800" b="1" dirty="0" smtClean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endParaRPr lang="en-US" sz="2800" b="1" dirty="0" smtClean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Frontend development (Sessions 2–5</a:t>
            </a:r>
            <a:r>
              <a:rPr lang="en-US" sz="2800" b="1" dirty="0" smtClean="0">
                <a:solidFill>
                  <a:srgbClr val="002060"/>
                </a:solidFill>
                <a:latin typeface="Bell MT" panose="02020503060305020303" pitchFamily="18" charset="0"/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Backend development (Sessions 6–8</a:t>
            </a:r>
            <a:r>
              <a:rPr lang="en-US" sz="2800" b="1" dirty="0" smtClean="0">
                <a:solidFill>
                  <a:srgbClr val="002060"/>
                </a:solidFill>
                <a:latin typeface="Bell MT" panose="02020503060305020303" pitchFamily="18" charset="0"/>
              </a:rPr>
              <a:t>)</a:t>
            </a:r>
            <a:endParaRPr lang="en-US" sz="2800" b="1" dirty="0" smtClean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Integration and testing (Sessions 9–14</a:t>
            </a:r>
            <a:r>
              <a:rPr lang="en-US" sz="2800" b="1" dirty="0" smtClean="0">
                <a:solidFill>
                  <a:srgbClr val="002060"/>
                </a:solidFill>
                <a:latin typeface="Bell MT" panose="02020503060305020303" pitchFamily="18" charset="0"/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b="1" dirty="0" smtClean="0">
              <a:solidFill>
                <a:srgbClr val="002060"/>
              </a:solidFill>
              <a:latin typeface="Bell MT" panose="020205030603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  <a:latin typeface="Bell MT" panose="02020503060305020303" pitchFamily="18" charset="0"/>
              </a:rPr>
              <a:t>Final deployment (Session 15</a:t>
            </a:r>
            <a:r>
              <a:rPr lang="en-US" sz="2800" b="1" dirty="0" smtClean="0">
                <a:solidFill>
                  <a:srgbClr val="002060"/>
                </a:solidFill>
                <a:latin typeface="Bell MT" panose="020205030603050203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569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280993"/>
              </p:ext>
            </p:extLst>
          </p:nvPr>
        </p:nvGraphicFramePr>
        <p:xfrm>
          <a:off x="524435" y="295834"/>
          <a:ext cx="10972800" cy="607807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914400"/>
                <a:gridCol w="3334871"/>
                <a:gridCol w="6723529"/>
              </a:tblGrid>
              <a:tr h="455076">
                <a:tc>
                  <a:txBody>
                    <a:bodyPr/>
                    <a:lstStyle/>
                    <a:p>
                      <a:r>
                        <a:rPr lang="en-IN" dirty="0" smtClean="0"/>
                        <a:t>Session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Topic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Key Highlights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Introduction &amp; Project Setup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Overview of the project, tools installation, Spring Boot setup, and understanding deliverables.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076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HTML5 &amp; CSS3 Basics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Structure of web pages, semantic tags, styling, and layout basics.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Responsive Design with Bootstrap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Using grid systems, responsive design, and common Bootstrap components.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076"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JavaScript Basics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DOM manipulation, event listeners, and form validation.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jQuery and AJAX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Simplifying DOM manipulation with jQuery and making asynchronous requests with AJAX.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Spring Boot Basics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Understanding Spring Boot, project structure, and RESTful API architecture.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Database Integration with MySQL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Configuring MySQL, creating tables, and integrating with Spring Data JPA.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Developing CRUD APIs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Creating REST APIs for Create, Read, Update, and Delete operations and testing with Postman.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09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046853"/>
              </p:ext>
            </p:extLst>
          </p:nvPr>
        </p:nvGraphicFramePr>
        <p:xfrm>
          <a:off x="524435" y="295834"/>
          <a:ext cx="10972800" cy="547760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914400"/>
                <a:gridCol w="3334871"/>
                <a:gridCol w="6723529"/>
              </a:tblGrid>
              <a:tr h="455076">
                <a:tc>
                  <a:txBody>
                    <a:bodyPr/>
                    <a:lstStyle/>
                    <a:p>
                      <a:r>
                        <a:rPr lang="en-IN" dirty="0" smtClean="0"/>
                        <a:t>Session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Topic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Key Highlights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Frontend-Backend Integration Part 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Fetching data from APIs, displaying data dynamically, and setting up the UI for CRUD.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076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Frontend-Backend Integration Part 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Handling form submissions, edit, and delete functionality with AJAX calls.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Building Guest Module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Implementing guest functionalities: View and search employees.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076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Building Admin Module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Implementing admin functionalities: Add, edit, and delete employees.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Form Validation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Validating forms on the frontend and backend for required fields and proper formats.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Application Testing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Testing workflows, error handling, and debugging the application.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474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Final Deployment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Packaging the project, deploying on a server, and project summary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612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27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6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051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0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37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398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Bell MT</vt:lpstr>
      <vt:lpstr>Calibri</vt:lpstr>
      <vt:lpstr>Calibri Light</vt:lpstr>
      <vt:lpstr>Wingdings</vt:lpstr>
      <vt:lpstr>Office Theme</vt:lpstr>
      <vt:lpstr>PROJECT TRAINING</vt:lpstr>
      <vt:lpstr>Agenda</vt:lpstr>
      <vt:lpstr>Project Overview</vt:lpstr>
      <vt:lpstr>Technology Stack</vt:lpstr>
      <vt:lpstr> Lesson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Bibhuranjan Mohanty</dc:creator>
  <cp:lastModifiedBy>Bibhuranjan Mohanty</cp:lastModifiedBy>
  <cp:revision>18</cp:revision>
  <dcterms:created xsi:type="dcterms:W3CDTF">2025-01-06T12:19:17Z</dcterms:created>
  <dcterms:modified xsi:type="dcterms:W3CDTF">2025-01-16T13:27:25Z</dcterms:modified>
</cp:coreProperties>
</file>