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302" r:id="rId3"/>
    <p:sldId id="256" r:id="rId4"/>
    <p:sldId id="267" r:id="rId5"/>
    <p:sldId id="328" r:id="rId6"/>
    <p:sldId id="338" r:id="rId7"/>
    <p:sldId id="329" r:id="rId8"/>
    <p:sldId id="336" r:id="rId9"/>
    <p:sldId id="337" r:id="rId10"/>
    <p:sldId id="330" r:id="rId11"/>
    <p:sldId id="334" r:id="rId12"/>
    <p:sldId id="341" r:id="rId13"/>
    <p:sldId id="340" r:id="rId14"/>
    <p:sldId id="339" r:id="rId15"/>
    <p:sldId id="342" r:id="rId16"/>
    <p:sldId id="343" r:id="rId17"/>
    <p:sldId id="345" r:id="rId18"/>
    <p:sldId id="321" r:id="rId19"/>
    <p:sldId id="346" r:id="rId20"/>
    <p:sldId id="347" r:id="rId21"/>
    <p:sldId id="323" r:id="rId22"/>
    <p:sldId id="348" r:id="rId23"/>
    <p:sldId id="349" r:id="rId24"/>
    <p:sldId id="350" r:id="rId25"/>
    <p:sldId id="351" r:id="rId26"/>
    <p:sldId id="332" r:id="rId27"/>
    <p:sldId id="316" r:id="rId28"/>
    <p:sldId id="354" r:id="rId29"/>
    <p:sldId id="355" r:id="rId30"/>
    <p:sldId id="356" r:id="rId31"/>
    <p:sldId id="357" r:id="rId32"/>
    <p:sldId id="358" r:id="rId33"/>
    <p:sldId id="359" r:id="rId34"/>
    <p:sldId id="360" r:id="rId35"/>
    <p:sldId id="361" r:id="rId36"/>
    <p:sldId id="362" r:id="rId37"/>
    <p:sldId id="363" r:id="rId38"/>
    <p:sldId id="364" r:id="rId39"/>
    <p:sldId id="353" r:id="rId40"/>
    <p:sldId id="320" r:id="rId41"/>
  </p:sldIdLst>
  <p:sldSz cx="18288000" cy="10287000"/>
  <p:notesSz cx="6858000" cy="9144000"/>
  <p:embeddedFontLst>
    <p:embeddedFont>
      <p:font typeface="Arial Unicode MS" pitchFamily="34" charset="-128"/>
      <p:regular r:id="rId42"/>
    </p:embeddedFont>
    <p:embeddedFont>
      <p:font typeface="Bahnschrift Light" pitchFamily="34" charset="0"/>
      <p:regular r:id="rId43"/>
    </p:embeddedFont>
    <p:embeddedFont>
      <p:font typeface="Barlow Condensed Bold" charset="0"/>
      <p:regular r:id="rId44"/>
    </p:embeddedFont>
    <p:embeddedFont>
      <p:font typeface="Open Sans Bold" charset="0"/>
      <p:regular r:id="rId45"/>
    </p:embeddedFont>
    <p:embeddedFont>
      <p:font typeface="Calibri" pitchFamily="34" charset="0"/>
      <p:regular r:id="rId46"/>
      <p:bold r:id="rId47"/>
      <p:italic r:id="rId48"/>
      <p:boldItalic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-696" y="-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e-react-app.dev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vite.dev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54600" y="811530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934200" y="1576065"/>
            <a:ext cx="6021292" cy="2461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461"/>
              </a:lnSpc>
              <a:spcBef>
                <a:spcPct val="0"/>
              </a:spcBef>
            </a:pPr>
            <a:r>
              <a:rPr lang="en-US" sz="15329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React</a:t>
            </a:r>
            <a:endParaRPr lang="en-US" sz="15329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pic>
        <p:nvPicPr>
          <p:cNvPr id="1030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762757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19" name="TextBox 20"/>
          <p:cNvSpPr txBox="1"/>
          <p:nvPr/>
        </p:nvSpPr>
        <p:spPr>
          <a:xfrm>
            <a:off x="7357317" y="3633465"/>
            <a:ext cx="6021292" cy="2421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461"/>
              </a:lnSpc>
              <a:spcBef>
                <a:spcPct val="0"/>
              </a:spcBef>
            </a:pPr>
            <a:r>
              <a:rPr lang="en-US" sz="13800" dirty="0" smtClean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Training</a:t>
            </a:r>
            <a:endParaRPr lang="en-US" sz="13800" dirty="0">
              <a:solidFill>
                <a:srgbClr val="00206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59089" y="6242090"/>
            <a:ext cx="6646068" cy="3016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dirty="0" smtClean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 Presented By 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sz="4000" dirty="0">
                <a:solidFill>
                  <a:srgbClr val="FFC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</a:t>
            </a:r>
            <a:r>
              <a:rPr lang="en-US" sz="4000" dirty="0" smtClean="0">
                <a:solidFill>
                  <a:srgbClr val="FFC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</a:t>
            </a:r>
            <a:r>
              <a:rPr lang="en-US" sz="3200" b="1" dirty="0" smtClean="0">
                <a:solidFill>
                  <a:srgbClr val="FFC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Barlow Condensed Bold"/>
              </a:rPr>
              <a:t>Bibhuranjan Mohanty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FFC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Barlow Condensed Bold"/>
              </a:rPr>
              <a:t>  Technical Anchor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FFC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Barlow Condensed Bold"/>
              </a:rPr>
              <a:t>  L&amp;K Department</a:t>
            </a:r>
            <a:endParaRPr lang="en-US" sz="3200" b="1" dirty="0">
              <a:solidFill>
                <a:srgbClr val="FFC000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10012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6553200" y="4305300"/>
            <a:ext cx="412551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SESSION-02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206064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0" y="1940639"/>
            <a:ext cx="4719638" cy="6080929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95093" y="613136"/>
            <a:ext cx="4125510" cy="92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Objectives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048462" y="2829401"/>
            <a:ext cx="9488946" cy="715089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Project structure and folder </a:t>
            </a:r>
            <a:r>
              <a:rPr lang="en-US" sz="3600" b="1" dirty="0" smtClean="0">
                <a:solidFill>
                  <a:srgbClr val="002060"/>
                </a:solidFill>
              </a:rPr>
              <a:t>organization</a:t>
            </a:r>
            <a:endParaRPr lang="en-IN" sz="3600" b="1" dirty="0">
              <a:solidFill>
                <a:srgbClr val="002060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099235" y="1915001"/>
            <a:ext cx="9438173" cy="715089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>
            <a:spAutoFit/>
          </a:bodyPr>
          <a:lstStyle/>
          <a:p>
            <a:r>
              <a:rPr lang="en-IN" sz="3600" b="1" dirty="0" smtClean="0">
                <a:solidFill>
                  <a:srgbClr val="002060"/>
                </a:solidFill>
              </a:rPr>
              <a:t>Creating First React App</a:t>
            </a:r>
            <a:endParaRPr lang="en-IN" sz="3600" b="1" dirty="0">
              <a:solidFill>
                <a:srgbClr val="002060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048462" y="3746633"/>
            <a:ext cx="9488946" cy="715089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>
            <a:spAutoFit/>
          </a:bodyPr>
          <a:lstStyle/>
          <a:p>
            <a:r>
              <a:rPr lang="en-US" sz="3600" b="1" dirty="0"/>
              <a:t>Writing your first React </a:t>
            </a:r>
            <a:r>
              <a:rPr lang="en-US" sz="3600" b="1" dirty="0" smtClean="0"/>
              <a:t>component</a:t>
            </a:r>
            <a:endParaRPr lang="en-IN" sz="3600" b="1" dirty="0">
              <a:solidFill>
                <a:srgbClr val="002060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033266" y="4780867"/>
            <a:ext cx="9488946" cy="715089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>
            <a:spAutoFit/>
          </a:bodyPr>
          <a:lstStyle/>
          <a:p>
            <a:r>
              <a:rPr lang="en-US" sz="3600" b="1" dirty="0" smtClean="0"/>
              <a:t>JSX </a:t>
            </a:r>
            <a:r>
              <a:rPr lang="en-US" sz="3600" b="1" dirty="0"/>
              <a:t>– an Introduction</a:t>
            </a:r>
            <a:endParaRPr lang="en-IN" sz="3600" b="1" dirty="0">
              <a:solidFill>
                <a:srgbClr val="00206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93" y="2962205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93" y="2047805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93" y="3945838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93" y="4838700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93" y="5932506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Rounded Rectangle 36"/>
          <p:cNvSpPr/>
          <p:nvPr/>
        </p:nvSpPr>
        <p:spPr>
          <a:xfrm>
            <a:off x="1981200" y="5831724"/>
            <a:ext cx="9519337" cy="715089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none">
            <a:spAutoFit/>
          </a:bodyPr>
          <a:lstStyle/>
          <a:p>
            <a:r>
              <a:rPr lang="en-US" sz="3600" b="1" dirty="0"/>
              <a:t>Rendering of Elements and Components in React</a:t>
            </a:r>
            <a:endParaRPr lang="en-IN" sz="36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5257800" y="4152900"/>
            <a:ext cx="83058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Creating First React App</a:t>
            </a:r>
          </a:p>
        </p:txBody>
      </p:sp>
    </p:spTree>
    <p:extLst>
      <p:ext uri="{BB962C8B-B14F-4D97-AF65-F5344CB8AC3E}">
        <p14:creationId xmlns:p14="http://schemas.microsoft.com/office/powerpoint/2010/main" val="378161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12723" y="409575"/>
            <a:ext cx="1222354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Different Ways to Create React App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12723" y="1943100"/>
            <a:ext cx="8327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 smtClean="0">
                <a:solidFill>
                  <a:srgbClr val="C00000"/>
                </a:solidFill>
              </a:rPr>
              <a:t>1. Using </a:t>
            </a:r>
            <a:r>
              <a:rPr lang="en-US" sz="4800" b="1" dirty="0">
                <a:solidFill>
                  <a:srgbClr val="C00000"/>
                </a:solidFill>
              </a:rPr>
              <a:t>Create React App (</a:t>
            </a:r>
            <a:r>
              <a:rPr lang="en-US" sz="4800" b="1" dirty="0" smtClean="0">
                <a:solidFill>
                  <a:srgbClr val="C00000"/>
                </a:solidFill>
              </a:rPr>
              <a:t>CRA)</a:t>
            </a:r>
            <a:endParaRPr lang="en-IN" sz="4800" b="1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52600" y="2809739"/>
            <a:ext cx="14097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 smtClean="0"/>
              <a:t> Recommended </a:t>
            </a:r>
            <a:r>
              <a:rPr lang="en-US" sz="3200" dirty="0"/>
              <a:t>for beginners and quick </a:t>
            </a:r>
            <a:r>
              <a:rPr lang="en-US" sz="3200" dirty="0" smtClean="0"/>
              <a:t>prototypes.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 smtClean="0"/>
              <a:t> It </a:t>
            </a:r>
            <a:r>
              <a:rPr lang="en-US" sz="3200" dirty="0"/>
              <a:t>is the simplest way to start a new React project without manual configuration</a:t>
            </a:r>
            <a:r>
              <a:rPr lang="en-US" sz="3200" dirty="0" smtClean="0"/>
              <a:t>.</a:t>
            </a:r>
            <a:endParaRPr lang="en-US" sz="3200" dirty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b="1" dirty="0" smtClean="0"/>
              <a:t> Pros</a:t>
            </a:r>
            <a:r>
              <a:rPr lang="en-US" sz="3200" b="1" dirty="0"/>
              <a:t>:</a:t>
            </a:r>
            <a:r>
              <a:rPr lang="en-US" sz="3200" dirty="0"/>
              <a:t> Easy setup, pre-configured with best practices, includes build scripts, hot reloading, and linting</a:t>
            </a:r>
            <a:r>
              <a:rPr lang="en-US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b="1" dirty="0" smtClean="0"/>
              <a:t>Command  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endParaRPr lang="en-US" sz="3200" b="1" dirty="0"/>
          </a:p>
          <a:p>
            <a:pPr algn="just">
              <a:lnSpc>
                <a:spcPct val="150000"/>
              </a:lnSpc>
            </a:pPr>
            <a:endParaRPr lang="en-US" sz="3200" b="1" dirty="0"/>
          </a:p>
          <a:p>
            <a:pPr algn="just">
              <a:lnSpc>
                <a:spcPct val="150000"/>
              </a:lnSpc>
            </a:pPr>
            <a:endParaRPr lang="en-US" sz="3200" b="1" dirty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3200" dirty="0">
                <a:hlinkClick r:id="rId4"/>
              </a:rPr>
              <a:t>Create React App Documentation</a:t>
            </a:r>
            <a:endParaRPr lang="en-IN" sz="3200" b="1" dirty="0"/>
          </a:p>
        </p:txBody>
      </p:sp>
      <p:sp>
        <p:nvSpPr>
          <p:cNvPr id="12" name="Rounded Rectangle 11"/>
          <p:cNvSpPr/>
          <p:nvPr/>
        </p:nvSpPr>
        <p:spPr>
          <a:xfrm>
            <a:off x="2362200" y="6586957"/>
            <a:ext cx="13563600" cy="1532334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npx create-react-app my-app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cd my-app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npm start</a:t>
            </a:r>
            <a:endParaRPr lang="en-I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89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Rounded Rectangle 18"/>
          <p:cNvSpPr/>
          <p:nvPr/>
        </p:nvSpPr>
        <p:spPr>
          <a:xfrm>
            <a:off x="1088923" y="6873742"/>
            <a:ext cx="9350477" cy="1123712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npm init react-app  </a:t>
            </a:r>
            <a:r>
              <a:rPr lang="en-US" sz="4000" b="1" dirty="0" smtClean="0">
                <a:solidFill>
                  <a:schemeClr val="bg1"/>
                </a:solidFill>
              </a:rPr>
              <a:t>   projectName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8922" y="8088114"/>
            <a:ext cx="9350477" cy="1123712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n</a:t>
            </a:r>
            <a:r>
              <a:rPr lang="en-US" sz="4000" b="1" dirty="0" smtClean="0">
                <a:solidFill>
                  <a:schemeClr val="bg1"/>
                </a:solidFill>
              </a:rPr>
              <a:t>px create-react-app</a:t>
            </a:r>
            <a:r>
              <a:rPr lang="en-US" sz="4000" b="1" dirty="0" smtClean="0">
                <a:solidFill>
                  <a:schemeClr val="bg1"/>
                </a:solidFill>
              </a:rPr>
              <a:t>  projectName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998842" y="3238500"/>
            <a:ext cx="16750996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6000" b="1" dirty="0">
                <a:solidFill>
                  <a:srgbClr val="002060"/>
                </a:solidFill>
              </a:rPr>
              <a:t>n</a:t>
            </a:r>
            <a:r>
              <a:rPr lang="en-US" sz="6000" b="1" dirty="0" smtClean="0">
                <a:solidFill>
                  <a:srgbClr val="002060"/>
                </a:solidFill>
              </a:rPr>
              <a:t>pm will install the package &amp; then executes It </a:t>
            </a:r>
          </a:p>
          <a:p>
            <a:pPr algn="just"/>
            <a:r>
              <a:rPr lang="en-US" sz="6000" b="1" dirty="0">
                <a:solidFill>
                  <a:srgbClr val="002060"/>
                </a:solidFill>
              </a:rPr>
              <a:t> </a:t>
            </a:r>
            <a:r>
              <a:rPr lang="en-US" sz="6000" b="1" dirty="0" smtClean="0">
                <a:solidFill>
                  <a:srgbClr val="002060"/>
                </a:solidFill>
              </a:rPr>
              <a:t>                              Whereas </a:t>
            </a:r>
          </a:p>
          <a:p>
            <a:pPr algn="just"/>
            <a:r>
              <a:rPr lang="en-US" sz="6000" b="1" dirty="0">
                <a:solidFill>
                  <a:srgbClr val="002060"/>
                </a:solidFill>
              </a:rPr>
              <a:t>n</a:t>
            </a:r>
            <a:r>
              <a:rPr lang="en-US" sz="6000" b="1" dirty="0" smtClean="0">
                <a:solidFill>
                  <a:srgbClr val="002060"/>
                </a:solidFill>
              </a:rPr>
              <a:t>px directly executes &amp; then uninstalls that package</a:t>
            </a:r>
            <a:endParaRPr lang="en-IN" sz="6000" b="1" dirty="0">
              <a:solidFill>
                <a:srgbClr val="00206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844890" y="633237"/>
            <a:ext cx="6598217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4000" b="1" dirty="0" smtClean="0">
                <a:solidFill>
                  <a:srgbClr val="00B050"/>
                </a:solidFill>
              </a:rPr>
              <a:t>Node Package Manager (npm)</a:t>
            </a:r>
          </a:p>
          <a:p>
            <a:pPr algn="just"/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</a:rPr>
              <a:t>                    </a:t>
            </a:r>
            <a:r>
              <a:rPr lang="en-US" sz="4000" b="1" dirty="0" smtClean="0">
                <a:solidFill>
                  <a:srgbClr val="FF0000"/>
                </a:solidFill>
              </a:rPr>
              <a:t>vs.</a:t>
            </a:r>
          </a:p>
          <a:p>
            <a:pPr algn="just"/>
            <a:r>
              <a:rPr lang="en-US" sz="4000" b="1" dirty="0" smtClean="0">
                <a:solidFill>
                  <a:srgbClr val="00B0F0"/>
                </a:solidFill>
              </a:rPr>
              <a:t>Node Package Execute(npx)</a:t>
            </a:r>
          </a:p>
        </p:txBody>
      </p:sp>
    </p:spTree>
    <p:extLst>
      <p:ext uri="{BB962C8B-B14F-4D97-AF65-F5344CB8AC3E}">
        <p14:creationId xmlns:p14="http://schemas.microsoft.com/office/powerpoint/2010/main" val="3614942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12723" y="409575"/>
            <a:ext cx="1222354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Different Ways to Create React App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12723" y="1943100"/>
            <a:ext cx="339118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2. Using Vite</a:t>
            </a:r>
            <a:endParaRPr lang="en-IN" sz="4800" b="1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23103" y="2774097"/>
            <a:ext cx="14097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/>
              <a:t> For faster builds and a more modern development experience</a:t>
            </a:r>
            <a:r>
              <a:rPr lang="en-US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/>
              <a:t> Vite is a build tool that is much faster than CRA, providing a more efficient developer experience.</a:t>
            </a:r>
            <a:r>
              <a:rPr lang="en-US" sz="3200" b="1" dirty="0" smtClean="0"/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b="1" dirty="0"/>
              <a:t> </a:t>
            </a:r>
            <a:r>
              <a:rPr lang="en-US" sz="3200" b="1" dirty="0" smtClean="0"/>
              <a:t>Pros</a:t>
            </a:r>
            <a:r>
              <a:rPr lang="en-US" sz="3200" b="1" dirty="0"/>
              <a:t>:</a:t>
            </a:r>
            <a:r>
              <a:rPr lang="en-US" sz="3200" dirty="0"/>
              <a:t> Fast startup, lightweight, optimized for development with instant hot module replacement</a:t>
            </a:r>
            <a:r>
              <a:rPr lang="en-US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b="1" dirty="0" smtClean="0"/>
              <a:t>Command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endParaRPr lang="en-US" sz="3200" b="1" dirty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endParaRPr lang="en-US" sz="3200" b="1" dirty="0" smtClean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3200" dirty="0">
                <a:hlinkClick r:id="rId4"/>
              </a:rPr>
              <a:t>Vite Documentation</a:t>
            </a:r>
            <a:endParaRPr lang="en-IN" sz="3200" b="1" dirty="0"/>
          </a:p>
        </p:txBody>
      </p:sp>
      <p:sp>
        <p:nvSpPr>
          <p:cNvPr id="12" name="Rounded Rectangle 11"/>
          <p:cNvSpPr/>
          <p:nvPr/>
        </p:nvSpPr>
        <p:spPr>
          <a:xfrm>
            <a:off x="4379327" y="6591300"/>
            <a:ext cx="10244137" cy="2092488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</a:rPr>
              <a:t>npm create vite@latest my-app --template </a:t>
            </a:r>
            <a:r>
              <a:rPr lang="en-US" sz="2000" b="1" dirty="0" smtClean="0">
                <a:solidFill>
                  <a:schemeClr val="bg1"/>
                </a:solidFill>
              </a:rPr>
              <a:t>react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bg1"/>
                </a:solidFill>
              </a:rPr>
              <a:t>cd my-app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bg1"/>
                </a:solidFill>
              </a:rPr>
              <a:t>npm install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bg1"/>
                </a:solidFill>
              </a:rPr>
              <a:t>npm </a:t>
            </a:r>
            <a:r>
              <a:rPr lang="en-US" sz="2000" b="1" dirty="0">
                <a:solidFill>
                  <a:schemeClr val="bg1"/>
                </a:solidFill>
              </a:rPr>
              <a:t>run </a:t>
            </a:r>
            <a:r>
              <a:rPr lang="en-US" sz="2000" b="1" dirty="0" err="1" smtClean="0">
                <a:solidFill>
                  <a:schemeClr val="bg1"/>
                </a:solidFill>
              </a:rPr>
              <a:t>dev</a:t>
            </a:r>
            <a:endParaRPr lang="en-IN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890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8044911" y="684508"/>
            <a:ext cx="2286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VITE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22335" y="1965255"/>
            <a:ext cx="161937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q"/>
            </a:pPr>
            <a:r>
              <a:rPr lang="en-US" sz="3600" dirty="0"/>
              <a:t>Vite is a modern front-end build tool designed for fast and efficient development</a:t>
            </a:r>
            <a:r>
              <a:rPr lang="en-US" sz="3600" dirty="0" smtClean="0"/>
              <a:t>.</a:t>
            </a:r>
          </a:p>
          <a:p>
            <a:pPr algn="just"/>
            <a:endParaRPr lang="en-US" sz="3600" dirty="0"/>
          </a:p>
          <a:p>
            <a:pPr marL="457200" indent="-457200" algn="just">
              <a:buFont typeface="Wingdings" pitchFamily="2" charset="2"/>
              <a:buChar char="q"/>
            </a:pPr>
            <a:r>
              <a:rPr lang="en-US" sz="3600" dirty="0" smtClean="0"/>
              <a:t>Created </a:t>
            </a:r>
            <a:r>
              <a:rPr lang="en-US" sz="3600" dirty="0"/>
              <a:t>by Evan You (the creator of Vue.js), it's optimized for modern frameworks like React, Vue, and Svelte.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52040" y="4392297"/>
            <a:ext cx="438100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800" b="1" dirty="0" smtClean="0">
                <a:solidFill>
                  <a:srgbClr val="002060"/>
                </a:solidFill>
              </a:rPr>
              <a:t>Features </a:t>
            </a:r>
            <a:r>
              <a:rPr lang="en-IN" sz="4800" b="1" dirty="0">
                <a:solidFill>
                  <a:srgbClr val="002060"/>
                </a:solidFill>
              </a:rPr>
              <a:t>of Vite: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52040" y="5235654"/>
            <a:ext cx="15811500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3200" b="1" dirty="0" smtClean="0">
                <a:solidFill>
                  <a:srgbClr val="FF0000"/>
                </a:solidFill>
              </a:rPr>
              <a:t> Instant </a:t>
            </a:r>
            <a:r>
              <a:rPr lang="en-IN" sz="3200" b="1" dirty="0">
                <a:solidFill>
                  <a:srgbClr val="FF0000"/>
                </a:solidFill>
              </a:rPr>
              <a:t>Server Start: </a:t>
            </a:r>
            <a:r>
              <a:rPr lang="en-IN" sz="3200" dirty="0"/>
              <a:t>Extremely fast development server using native ES modules</a:t>
            </a:r>
            <a:r>
              <a:rPr lang="en-IN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3200" b="1" dirty="0" smtClean="0">
                <a:solidFill>
                  <a:srgbClr val="FF0000"/>
                </a:solidFill>
              </a:rPr>
              <a:t> Hot </a:t>
            </a:r>
            <a:r>
              <a:rPr lang="en-IN" sz="3200" b="1" dirty="0">
                <a:solidFill>
                  <a:srgbClr val="FF0000"/>
                </a:solidFill>
              </a:rPr>
              <a:t>Module Replacement (HMR): </a:t>
            </a:r>
            <a:r>
              <a:rPr lang="en-IN" sz="3200" dirty="0"/>
              <a:t>Instant updates without full-page reload</a:t>
            </a:r>
            <a:r>
              <a:rPr lang="en-IN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3200" b="1" dirty="0" smtClean="0">
                <a:solidFill>
                  <a:srgbClr val="FF0000"/>
                </a:solidFill>
              </a:rPr>
              <a:t> Fast </a:t>
            </a:r>
            <a:r>
              <a:rPr lang="en-IN" sz="3200" b="1" dirty="0">
                <a:solidFill>
                  <a:srgbClr val="FF0000"/>
                </a:solidFill>
              </a:rPr>
              <a:t>Builds: </a:t>
            </a:r>
            <a:r>
              <a:rPr lang="en-IN" sz="3200" dirty="0"/>
              <a:t>Leverages Rollup for fast and optimized production builds</a:t>
            </a:r>
            <a:r>
              <a:rPr lang="en-IN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3200" b="1" dirty="0" smtClean="0">
                <a:solidFill>
                  <a:srgbClr val="FF0000"/>
                </a:solidFill>
              </a:rPr>
              <a:t> Out-of-the-Box </a:t>
            </a:r>
            <a:r>
              <a:rPr lang="en-IN" sz="3200" b="1" dirty="0">
                <a:solidFill>
                  <a:srgbClr val="FF0000"/>
                </a:solidFill>
              </a:rPr>
              <a:t>Support: </a:t>
            </a:r>
            <a:r>
              <a:rPr lang="en-IN" sz="3200" dirty="0"/>
              <a:t>Works seamlessly with modern JavaScript frameworks (React, Vue, Svelte).</a:t>
            </a:r>
          </a:p>
        </p:txBody>
      </p:sp>
    </p:spTree>
    <p:extLst>
      <p:ext uri="{BB962C8B-B14F-4D97-AF65-F5344CB8AC3E}">
        <p14:creationId xmlns:p14="http://schemas.microsoft.com/office/powerpoint/2010/main" val="328173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310148" y="1087182"/>
            <a:ext cx="14859000" cy="805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44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Advantages of Vite over Create React App (CRA):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148" y="2171700"/>
            <a:ext cx="14418372" cy="460397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310148" y="6863243"/>
            <a:ext cx="128778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B0F0"/>
                </a:solidFill>
              </a:rPr>
              <a:t>Why Choose Vite?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/>
              <a:t>Ideal for modern projects requiring </a:t>
            </a:r>
            <a:r>
              <a:rPr lang="en-US" sz="3200" b="1" dirty="0"/>
              <a:t>fast development and build times</a:t>
            </a:r>
            <a:r>
              <a:rPr lang="en-US" sz="3200" dirty="0"/>
              <a:t>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/>
              <a:t>Uses </a:t>
            </a:r>
            <a:r>
              <a:rPr lang="en-US" sz="3200" b="1" dirty="0"/>
              <a:t>native ES module imports</a:t>
            </a:r>
            <a:r>
              <a:rPr lang="en-US" sz="3200" dirty="0"/>
              <a:t>, reducing bundling complexity.</a:t>
            </a:r>
          </a:p>
        </p:txBody>
      </p:sp>
    </p:spTree>
    <p:extLst>
      <p:ext uri="{BB962C8B-B14F-4D97-AF65-F5344CB8AC3E}">
        <p14:creationId xmlns:p14="http://schemas.microsoft.com/office/powerpoint/2010/main" val="2003927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028700"/>
            <a:ext cx="15240000" cy="8970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407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371600" y="952500"/>
            <a:ext cx="128016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C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What is create-react-app ?</a:t>
            </a:r>
            <a:endParaRPr lang="en-US" sz="6500" b="1" dirty="0">
              <a:solidFill>
                <a:srgbClr val="C0000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ound Diagonal Corner Rectangle 1"/>
          <p:cNvSpPr/>
          <p:nvPr/>
        </p:nvSpPr>
        <p:spPr>
          <a:xfrm>
            <a:off x="1600201" y="2310539"/>
            <a:ext cx="14020800" cy="6997660"/>
          </a:xfrm>
          <a:prstGeom prst="round2Diag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dirty="0" smtClean="0">
                <a:solidFill>
                  <a:srgbClr val="002060"/>
                </a:solidFill>
              </a:rPr>
              <a:t>Create-react-app </a:t>
            </a:r>
          </a:p>
          <a:p>
            <a:pPr algn="ctr">
              <a:lnSpc>
                <a:spcPct val="150000"/>
              </a:lnSpc>
            </a:pPr>
            <a:r>
              <a:rPr lang="en-US" sz="5400" b="1" dirty="0">
                <a:solidFill>
                  <a:srgbClr val="002060"/>
                </a:solidFill>
              </a:rPr>
              <a:t>C</a:t>
            </a:r>
            <a:r>
              <a:rPr lang="en-US" sz="5400" b="1" dirty="0" smtClean="0">
                <a:solidFill>
                  <a:srgbClr val="002060"/>
                </a:solidFill>
              </a:rPr>
              <a:t>ommand-line interface (CLI)</a:t>
            </a:r>
          </a:p>
          <a:p>
            <a:pPr algn="ctr">
              <a:lnSpc>
                <a:spcPct val="150000"/>
              </a:lnSpc>
            </a:pPr>
            <a:r>
              <a:rPr lang="en-US" sz="5400" b="1" dirty="0">
                <a:solidFill>
                  <a:srgbClr val="002060"/>
                </a:solidFill>
              </a:rPr>
              <a:t>h</a:t>
            </a:r>
            <a:r>
              <a:rPr lang="en-US" sz="5400" b="1" dirty="0" smtClean="0">
                <a:solidFill>
                  <a:srgbClr val="002060"/>
                </a:solidFill>
              </a:rPr>
              <a:t>elps  to create </a:t>
            </a:r>
          </a:p>
          <a:p>
            <a:pPr algn="ctr">
              <a:lnSpc>
                <a:spcPct val="150000"/>
              </a:lnSpc>
            </a:pPr>
            <a:r>
              <a:rPr lang="en-US" sz="5400" b="1" dirty="0" smtClean="0">
                <a:solidFill>
                  <a:srgbClr val="002060"/>
                </a:solidFill>
              </a:rPr>
              <a:t>prerequisite environment </a:t>
            </a:r>
          </a:p>
          <a:p>
            <a:pPr algn="ctr">
              <a:lnSpc>
                <a:spcPct val="150000"/>
              </a:lnSpc>
            </a:pPr>
            <a:r>
              <a:rPr lang="en-US" sz="5400" b="1" dirty="0" smtClean="0">
                <a:solidFill>
                  <a:srgbClr val="002060"/>
                </a:solidFill>
              </a:rPr>
              <a:t>for a react project.</a:t>
            </a:r>
            <a:endParaRPr lang="en-US" sz="5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32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66800" y="300335"/>
            <a:ext cx="147828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5400" b="1" dirty="0" smtClean="0">
                <a:solidFill>
                  <a:srgbClr val="C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How do we create a react application or react Project?</a:t>
            </a:r>
            <a:endParaRPr lang="en-US" sz="5400" b="1" dirty="0">
              <a:solidFill>
                <a:srgbClr val="C0000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797614" y="2324100"/>
            <a:ext cx="8121502" cy="7150894"/>
          </a:xfrm>
          <a:prstGeom prst="round2DiagRect">
            <a:avLst/>
          </a:prstGeom>
          <a:solidFill>
            <a:schemeClr val="tx1"/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5400" b="1" dirty="0" smtClean="0">
                <a:solidFill>
                  <a:srgbClr val="C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Earlier</a:t>
            </a:r>
          </a:p>
          <a:p>
            <a:pPr>
              <a:lnSpc>
                <a:spcPts val="7150"/>
              </a:lnSpc>
            </a:pPr>
            <a:endParaRPr lang="en-US" sz="5400" b="1" dirty="0">
              <a:solidFill>
                <a:srgbClr val="C0000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>
              <a:lnSpc>
                <a:spcPts val="7150"/>
              </a:lnSpc>
            </a:pPr>
            <a:r>
              <a:rPr lang="en-US" sz="3600" b="1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  npm install create-react-app</a:t>
            </a:r>
          </a:p>
          <a:p>
            <a:pPr>
              <a:lnSpc>
                <a:spcPts val="7150"/>
              </a:lnSpc>
            </a:pPr>
            <a:endParaRPr lang="en-US" sz="3600" b="1" dirty="0">
              <a:solidFill>
                <a:schemeClr val="bg1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>
              <a:lnSpc>
                <a:spcPts val="7150"/>
              </a:lnSpc>
            </a:pPr>
            <a:r>
              <a:rPr lang="en-US" sz="3600" b="1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 Create-react-app</a:t>
            </a:r>
          </a:p>
          <a:p>
            <a:pPr>
              <a:lnSpc>
                <a:spcPts val="7150"/>
              </a:lnSpc>
            </a:pPr>
            <a:endParaRPr lang="en-US" sz="3600" b="1" dirty="0">
              <a:solidFill>
                <a:schemeClr val="bg1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>
              <a:lnSpc>
                <a:spcPts val="7150"/>
              </a:lnSpc>
            </a:pPr>
            <a:endParaRPr lang="en-US" sz="3600" b="1" dirty="0">
              <a:solidFill>
                <a:schemeClr val="bg1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0" name="TextBox 22"/>
          <p:cNvSpPr txBox="1"/>
          <p:nvPr/>
        </p:nvSpPr>
        <p:spPr>
          <a:xfrm>
            <a:off x="9163937" y="2324100"/>
            <a:ext cx="8203518" cy="7150894"/>
          </a:xfrm>
          <a:prstGeom prst="round2DiagRect">
            <a:avLst/>
          </a:prstGeom>
          <a:solidFill>
            <a:schemeClr val="tx1"/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5400" b="1" dirty="0" smtClean="0">
                <a:solidFill>
                  <a:srgbClr val="C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Now</a:t>
            </a:r>
          </a:p>
          <a:p>
            <a:pPr>
              <a:lnSpc>
                <a:spcPts val="7150"/>
              </a:lnSpc>
            </a:pPr>
            <a:r>
              <a:rPr lang="en-US" sz="5400" b="1" dirty="0">
                <a:solidFill>
                  <a:srgbClr val="C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</a:t>
            </a:r>
            <a:r>
              <a:rPr lang="en-US" sz="5400" b="1" dirty="0" smtClean="0">
                <a:solidFill>
                  <a:srgbClr val="C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  </a:t>
            </a:r>
            <a:r>
              <a:rPr lang="en-US" sz="3200" b="1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npx create-react-app my-app</a:t>
            </a:r>
          </a:p>
          <a:p>
            <a:pPr>
              <a:lnSpc>
                <a:spcPts val="7150"/>
              </a:lnSpc>
            </a:pPr>
            <a:r>
              <a:rPr lang="en-US" sz="3200" b="1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                            Or</a:t>
            </a:r>
          </a:p>
          <a:p>
            <a:pPr>
              <a:lnSpc>
                <a:spcPts val="7150"/>
              </a:lnSpc>
            </a:pPr>
            <a:r>
              <a:rPr lang="en-US" sz="3200" b="1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      npm </a:t>
            </a:r>
            <a:r>
              <a:rPr lang="en-US" sz="3200" b="1" dirty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init react-app </a:t>
            </a:r>
            <a:r>
              <a:rPr lang="en-US" sz="3200" b="1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my-app</a:t>
            </a:r>
            <a:endParaRPr lang="en-US" sz="3200" b="1" dirty="0">
              <a:solidFill>
                <a:schemeClr val="bg1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>
              <a:lnSpc>
                <a:spcPts val="7150"/>
              </a:lnSpc>
            </a:pPr>
            <a:r>
              <a:rPr lang="en-US" sz="3200" b="1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                           Or</a:t>
            </a:r>
          </a:p>
          <a:p>
            <a:pPr>
              <a:lnSpc>
                <a:spcPts val="7150"/>
              </a:lnSpc>
            </a:pPr>
            <a:r>
              <a:rPr lang="en-US" sz="3200" b="1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 npm </a:t>
            </a:r>
            <a:r>
              <a:rPr lang="en-US" sz="3200" b="1" dirty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create vite@latest </a:t>
            </a:r>
            <a:r>
              <a:rPr lang="en-US" sz="3200" b="1" dirty="0" err="1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proj</a:t>
            </a:r>
            <a:r>
              <a:rPr lang="en-US" sz="3200" b="1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--template react</a:t>
            </a:r>
          </a:p>
          <a:p>
            <a:pPr>
              <a:lnSpc>
                <a:spcPts val="7150"/>
              </a:lnSpc>
            </a:pPr>
            <a:endParaRPr lang="en-US" sz="5400" b="1" dirty="0">
              <a:solidFill>
                <a:srgbClr val="C0000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219200" y="3695700"/>
            <a:ext cx="7543800" cy="762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9695835" y="3619500"/>
            <a:ext cx="7543800" cy="762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79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2590800" y="4152900"/>
            <a:ext cx="128016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Project </a:t>
            </a: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structure and folder </a:t>
            </a: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organization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>
              <a:lnSpc>
                <a:spcPts val="7150"/>
              </a:lnSpc>
            </a:pP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156597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291677"/>
            <a:ext cx="14401800" cy="746668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676400" y="945981"/>
            <a:ext cx="10744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rgbClr val="00B0F0"/>
                </a:solidFill>
              </a:rPr>
              <a:t>Default Project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95102" y="4958834"/>
            <a:ext cx="66977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By default, Create React App generates the following folder structure: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2667000" y="3924300"/>
            <a:ext cx="4038600" cy="39624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75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539" y="2019300"/>
            <a:ext cx="14443721" cy="73723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1666039" y="825073"/>
            <a:ext cx="148005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solidFill>
                  <a:srgbClr val="00B0F0"/>
                </a:solidFill>
              </a:rPr>
              <a:t>Enhanced Folder Structure for Better Organization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3162300"/>
            <a:ext cx="3581400" cy="47244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96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1371600" y="507712"/>
            <a:ext cx="148005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00B0F0"/>
                </a:solidFill>
              </a:rPr>
              <a:t>Detailed </a:t>
            </a:r>
            <a:r>
              <a:rPr lang="en-US" sz="3200" b="1" dirty="0">
                <a:solidFill>
                  <a:srgbClr val="00B0F0"/>
                </a:solidFill>
              </a:rPr>
              <a:t>folder structure and organization for a real-time React app using Redux</a:t>
            </a:r>
            <a:endParaRPr lang="en-IN" sz="3200" b="1" dirty="0">
              <a:solidFill>
                <a:srgbClr val="00B0F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767" y="1245188"/>
            <a:ext cx="14554200" cy="86334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ectangle 18"/>
          <p:cNvSpPr/>
          <p:nvPr/>
        </p:nvSpPr>
        <p:spPr>
          <a:xfrm>
            <a:off x="2286000" y="2476500"/>
            <a:ext cx="3581400" cy="584882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518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524000" y="409575"/>
            <a:ext cx="140208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C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Where does the index.html reside in the default react project?</a:t>
            </a:r>
            <a:endParaRPr lang="en-US" sz="6000" b="1" dirty="0">
              <a:solidFill>
                <a:srgbClr val="C0000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660426"/>
            <a:ext cx="14630399" cy="64888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6265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3200400" y="4152900"/>
            <a:ext cx="11811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Writing your first React component.</a:t>
            </a:r>
          </a:p>
        </p:txBody>
      </p:sp>
    </p:spTree>
    <p:extLst>
      <p:ext uri="{BB962C8B-B14F-4D97-AF65-F5344CB8AC3E}">
        <p14:creationId xmlns:p14="http://schemas.microsoft.com/office/powerpoint/2010/main" val="2575017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43000" y="455049"/>
            <a:ext cx="11811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</a:t>
            </a: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omponent</a:t>
            </a: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.</a:t>
            </a:r>
          </a:p>
        </p:txBody>
      </p:sp>
      <p:sp>
        <p:nvSpPr>
          <p:cNvPr id="2" name="Rectangle 1"/>
          <p:cNvSpPr/>
          <p:nvPr/>
        </p:nvSpPr>
        <p:spPr>
          <a:xfrm>
            <a:off x="1125794" y="1410334"/>
            <a:ext cx="1244603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7150"/>
              </a:lnSpc>
            </a:pPr>
            <a:r>
              <a:rPr lang="en-US" sz="4800" b="1" dirty="0" smtClean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Component is a reusable &amp; independent piece of code .</a:t>
            </a:r>
            <a:endParaRPr lang="en-US" sz="4800" b="1" dirty="0">
              <a:solidFill>
                <a:srgbClr val="00206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147916" y="2469013"/>
            <a:ext cx="552907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7150"/>
              </a:lnSpc>
            </a:pPr>
            <a:r>
              <a:rPr lang="en-US" sz="4800" b="1" dirty="0" smtClean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Creating a  Component :</a:t>
            </a:r>
            <a:endParaRPr lang="en-US" sz="4800" b="1" dirty="0">
              <a:solidFill>
                <a:srgbClr val="00206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108588" y="3504823"/>
            <a:ext cx="13445612" cy="3166824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7150"/>
              </a:lnSpc>
            </a:pPr>
            <a:r>
              <a:rPr lang="en-US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function Welcome()</a:t>
            </a:r>
            <a:r>
              <a:rPr lang="en-IN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{</a:t>
            </a:r>
          </a:p>
          <a:p>
            <a:pPr>
              <a:lnSpc>
                <a:spcPts val="7150"/>
              </a:lnSpc>
            </a:pPr>
            <a:r>
              <a:rPr lang="en-IN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 return (&lt;h1&gt;Welcome to React World&lt;/h1&gt;) ;</a:t>
            </a:r>
            <a:endParaRPr lang="en-IN" sz="2800" dirty="0">
              <a:solidFill>
                <a:schemeClr val="bg1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>
              <a:lnSpc>
                <a:spcPts val="7150"/>
              </a:lnSpc>
            </a:pPr>
            <a:r>
              <a:rPr lang="en-IN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}</a:t>
            </a:r>
            <a:r>
              <a:rPr lang="en-US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</a:t>
            </a:r>
            <a:endParaRPr lang="en-US" sz="2800" dirty="0">
              <a:solidFill>
                <a:schemeClr val="bg1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79091" y="6874986"/>
            <a:ext cx="577433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7150"/>
              </a:lnSpc>
            </a:pPr>
            <a:r>
              <a:rPr lang="en-US" sz="4800" b="1" dirty="0" smtClean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Rendering a Component :</a:t>
            </a:r>
            <a:endParaRPr lang="en-US" sz="4800" b="1" dirty="0">
              <a:solidFill>
                <a:srgbClr val="00206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147916" y="7890650"/>
            <a:ext cx="13558684" cy="1123712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dirty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&lt;Welcome</a:t>
            </a:r>
            <a:r>
              <a:rPr lang="en-US" sz="60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/&gt;                &lt;Welcome&gt;&lt;</a:t>
            </a:r>
            <a:r>
              <a:rPr lang="en-US" sz="6000" dirty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Welcome</a:t>
            </a:r>
            <a:r>
              <a:rPr lang="en-US" sz="60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/&gt;</a:t>
            </a:r>
            <a:endParaRPr lang="en-US" sz="6000" dirty="0">
              <a:solidFill>
                <a:schemeClr val="bg1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08402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41231" y="245643"/>
            <a:ext cx="83058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Import - Export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65238" y="1159755"/>
            <a:ext cx="1484702" cy="887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7150"/>
              </a:lnSpc>
            </a:pPr>
            <a:r>
              <a:rPr lang="en-US" sz="4000" b="1" dirty="0" smtClean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Import</a:t>
            </a:r>
            <a:r>
              <a:rPr lang="en-US" b="1" dirty="0" smtClean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:</a:t>
            </a:r>
            <a:endParaRPr lang="en-US" b="1" dirty="0">
              <a:solidFill>
                <a:srgbClr val="00206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56429" y="2247900"/>
            <a:ext cx="10930771" cy="1015663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>
              <a:lnSpc>
                <a:spcPts val="7150"/>
              </a:lnSpc>
            </a:pPr>
            <a:r>
              <a:rPr lang="en-IN" sz="54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import   Welcome  from    “./Welcome.jsx”;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4903" y="3543298"/>
            <a:ext cx="300915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7150"/>
              </a:lnSpc>
            </a:pPr>
            <a:r>
              <a:rPr lang="en-US" sz="4000" b="1" dirty="0" smtClean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Default Export </a:t>
            </a:r>
            <a:r>
              <a:rPr lang="en-US" b="1" dirty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:</a:t>
            </a:r>
            <a:endParaRPr lang="en-US" b="1" dirty="0">
              <a:solidFill>
                <a:srgbClr val="00206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56429" y="4565590"/>
            <a:ext cx="10930771" cy="1015663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>
              <a:lnSpc>
                <a:spcPts val="7150"/>
              </a:lnSpc>
            </a:pPr>
            <a:r>
              <a:rPr lang="en-IN" sz="54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export default </a:t>
            </a:r>
            <a:r>
              <a:rPr lang="en-IN" sz="5400" dirty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Welcome </a:t>
            </a:r>
            <a:r>
              <a:rPr lang="en-IN" sz="54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;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6429" y="5753100"/>
            <a:ext cx="306686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7150"/>
              </a:lnSpc>
            </a:pPr>
            <a:r>
              <a:rPr lang="en-US" sz="4000" b="1" dirty="0" smtClean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Named  Export </a:t>
            </a:r>
            <a:r>
              <a:rPr lang="en-US" b="1" dirty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:</a:t>
            </a:r>
            <a:endParaRPr lang="en-US" b="1" dirty="0">
              <a:solidFill>
                <a:srgbClr val="00206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66261" y="6755197"/>
            <a:ext cx="10920939" cy="1015663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>
              <a:lnSpc>
                <a:spcPts val="7150"/>
              </a:lnSpc>
            </a:pPr>
            <a:r>
              <a:rPr lang="en-IN" sz="54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export default </a:t>
            </a:r>
            <a:r>
              <a:rPr lang="en-IN" sz="5400" dirty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Welcome </a:t>
            </a:r>
            <a:r>
              <a:rPr lang="en-IN" sz="54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;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1231" y="8307482"/>
            <a:ext cx="10845969" cy="1015663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>
              <a:lnSpc>
                <a:spcPts val="7150"/>
              </a:lnSpc>
            </a:pPr>
            <a:r>
              <a:rPr lang="en-IN" sz="54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Import {Title} from “</a:t>
            </a:r>
            <a:r>
              <a:rPr lang="en-IN" sz="5400" dirty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“./Welcome.jsx</a:t>
            </a:r>
            <a:r>
              <a:rPr lang="en-IN" sz="54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07438" y="1464484"/>
            <a:ext cx="5951962" cy="7858661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i="1" dirty="0" smtClean="0">
                <a:solidFill>
                  <a:schemeClr val="bg1"/>
                </a:solidFill>
              </a:rPr>
              <a:t>Named exports are useful when you want to export multiple values and import them with their specific names, while default exports are handy for exporting a single value and giving it a custom name when importing .The choice between the two depends on the structure and requirements of your codebase.</a:t>
            </a:r>
            <a:endParaRPr lang="en-IN" sz="36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887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5257800" y="4152900"/>
            <a:ext cx="83058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JSX </a:t>
            </a: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– an Introduction</a:t>
            </a:r>
          </a:p>
          <a:p>
            <a:pPr>
              <a:lnSpc>
                <a:spcPts val="7150"/>
              </a:lnSpc>
            </a:pP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45619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371600" y="637532"/>
            <a:ext cx="83058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Writing Markup in JSX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>
              <a:lnSpc>
                <a:spcPts val="7150"/>
              </a:lnSpc>
            </a:pP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371600" y="1976359"/>
            <a:ext cx="7754046" cy="2737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indent="-742950">
              <a:lnSpc>
                <a:spcPts val="7150"/>
              </a:lnSpc>
              <a:buFont typeface="+mj-lt"/>
              <a:buAutoNum type="arabicPeriod"/>
            </a:pPr>
            <a:r>
              <a:rPr lang="en-US" sz="4000" b="1" dirty="0" smtClean="0">
                <a:solidFill>
                  <a:srgbClr val="002060"/>
                </a:solidFill>
                <a:latin typeface="Bahnschrift Light" pitchFamily="34" charset="0"/>
                <a:ea typeface="Barlow Condensed Bold"/>
                <a:cs typeface="Barlow Condensed Bold"/>
                <a:sym typeface="Barlow Condensed Bold"/>
              </a:rPr>
              <a:t>Return a single root element</a:t>
            </a:r>
            <a:endParaRPr lang="en-US" sz="1050" b="1" dirty="0">
              <a:solidFill>
                <a:srgbClr val="002060"/>
              </a:solidFill>
              <a:latin typeface="Bahnschrift Light" pitchFamily="34" charset="0"/>
              <a:ea typeface="Barlow Condensed Bold"/>
              <a:cs typeface="Barlow Condensed Bold"/>
              <a:sym typeface="Barlow Condensed Bold"/>
            </a:endParaRPr>
          </a:p>
          <a:p>
            <a:pPr marL="742950" indent="-742950">
              <a:lnSpc>
                <a:spcPts val="7150"/>
              </a:lnSpc>
              <a:buFont typeface="+mj-lt"/>
              <a:buAutoNum type="arabicPeriod"/>
            </a:pPr>
            <a:r>
              <a:rPr lang="en-US" sz="4000" b="1" dirty="0" smtClean="0">
                <a:solidFill>
                  <a:srgbClr val="002060"/>
                </a:solidFill>
                <a:latin typeface="Bahnschrift Light" pitchFamily="34" charset="0"/>
                <a:ea typeface="Barlow Condensed Bold"/>
                <a:cs typeface="Barlow Condensed Bold"/>
                <a:sym typeface="Barlow Condensed Bold"/>
              </a:rPr>
              <a:t>Close all the tags</a:t>
            </a:r>
          </a:p>
          <a:p>
            <a:pPr marL="742950" indent="-742950">
              <a:lnSpc>
                <a:spcPts val="7150"/>
              </a:lnSpc>
              <a:buFont typeface="+mj-lt"/>
              <a:buAutoNum type="arabicPeriod"/>
            </a:pPr>
            <a:r>
              <a:rPr lang="en-US" sz="4000" b="1" dirty="0" smtClean="0">
                <a:solidFill>
                  <a:srgbClr val="002060"/>
                </a:solidFill>
                <a:latin typeface="Bahnschrift Light" pitchFamily="34" charset="0"/>
                <a:ea typeface="Barlow Condensed Bold"/>
                <a:cs typeface="Barlow Condensed Bold"/>
                <a:sym typeface="Barlow Condensed Bold"/>
              </a:rPr>
              <a:t>camelCase most of the things</a:t>
            </a:r>
          </a:p>
        </p:txBody>
      </p:sp>
      <p:sp>
        <p:nvSpPr>
          <p:cNvPr id="20" name="TextBox 22"/>
          <p:cNvSpPr txBox="1"/>
          <p:nvPr/>
        </p:nvSpPr>
        <p:spPr>
          <a:xfrm>
            <a:off x="1371600" y="4914900"/>
            <a:ext cx="83058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React Fragment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>
              <a:lnSpc>
                <a:spcPts val="7150"/>
              </a:lnSpc>
            </a:pP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71601" y="6057900"/>
            <a:ext cx="16230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>
                <a:solidFill>
                  <a:srgbClr val="002060"/>
                </a:solidFill>
                <a:latin typeface="Bahnschrift Light" pitchFamily="34" charset="0"/>
                <a:ea typeface="Barlow Condensed Bold"/>
                <a:cs typeface="Barlow Condensed Bold"/>
                <a:sym typeface="Barlow Condensed Bold"/>
              </a:rPr>
              <a:t>Fragment let you group a list of children without adding extra nodes to the DOM.</a:t>
            </a:r>
            <a:endParaRPr lang="en-IN" sz="4000" b="1" dirty="0">
              <a:solidFill>
                <a:srgbClr val="002060"/>
              </a:solidFill>
              <a:latin typeface="Bahnschrift Light" pitchFamily="34" charset="0"/>
              <a:ea typeface="Barlow Condensed Bold"/>
              <a:cs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21591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371600" y="637532"/>
            <a:ext cx="83058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JSX with Curly Braces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>
              <a:lnSpc>
                <a:spcPts val="7150"/>
              </a:lnSpc>
            </a:pP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219200" y="1921411"/>
            <a:ext cx="13445612" cy="3166824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7150"/>
              </a:lnSpc>
            </a:pPr>
            <a:r>
              <a:rPr lang="en-US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function App()</a:t>
            </a:r>
            <a:r>
              <a:rPr lang="en-IN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{</a:t>
            </a:r>
          </a:p>
          <a:p>
            <a:pPr>
              <a:lnSpc>
                <a:spcPts val="7150"/>
              </a:lnSpc>
            </a:pPr>
            <a:r>
              <a:rPr lang="en-IN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 return (&lt;p&gt;5 * 5  = {  2 * 2 }&lt;/p&gt;) ;</a:t>
            </a:r>
            <a:endParaRPr lang="en-IN" sz="2800" dirty="0">
              <a:solidFill>
                <a:schemeClr val="bg1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>
              <a:lnSpc>
                <a:spcPts val="7150"/>
              </a:lnSpc>
            </a:pPr>
            <a:r>
              <a:rPr lang="en-IN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}</a:t>
            </a:r>
            <a:r>
              <a:rPr lang="en-US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</a:t>
            </a:r>
            <a:endParaRPr lang="en-US" sz="2800" dirty="0">
              <a:solidFill>
                <a:schemeClr val="bg1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219200" y="5230828"/>
            <a:ext cx="13445612" cy="4188381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7150"/>
              </a:lnSpc>
            </a:pPr>
            <a:r>
              <a:rPr lang="en-US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function App()</a:t>
            </a:r>
            <a:r>
              <a:rPr lang="en-IN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{</a:t>
            </a:r>
          </a:p>
          <a:p>
            <a:pPr>
              <a:lnSpc>
                <a:spcPts val="7150"/>
              </a:lnSpc>
            </a:pPr>
            <a:r>
              <a:rPr lang="en-IN" sz="2800" dirty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</a:t>
            </a:r>
            <a:r>
              <a:rPr lang="en-IN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et  </a:t>
            </a:r>
            <a:r>
              <a:rPr lang="en-IN" sz="2800" dirty="0" err="1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msg</a:t>
            </a:r>
            <a:r>
              <a:rPr lang="en-IN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=“hello world !”;</a:t>
            </a:r>
          </a:p>
          <a:p>
            <a:pPr>
              <a:lnSpc>
                <a:spcPts val="7150"/>
              </a:lnSpc>
            </a:pPr>
            <a:r>
              <a:rPr lang="en-IN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 return (&lt;p&gt;message says {</a:t>
            </a:r>
            <a:r>
              <a:rPr lang="en-IN" sz="2800" dirty="0" err="1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msg</a:t>
            </a:r>
            <a:r>
              <a:rPr lang="en-IN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}&lt;/p&gt;) ;</a:t>
            </a:r>
            <a:endParaRPr lang="en-IN" sz="2800" dirty="0">
              <a:solidFill>
                <a:schemeClr val="bg1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>
              <a:lnSpc>
                <a:spcPts val="7150"/>
              </a:lnSpc>
            </a:pPr>
            <a:r>
              <a:rPr lang="en-IN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}</a:t>
            </a:r>
            <a:r>
              <a:rPr lang="en-US" sz="2800" dirty="0" smtClean="0">
                <a:solidFill>
                  <a:schemeClr val="bg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</a:t>
            </a:r>
            <a:endParaRPr lang="en-US" sz="2800" dirty="0">
              <a:solidFill>
                <a:schemeClr val="bg1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95006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5257800" y="4152900"/>
            <a:ext cx="83058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Structuring Componets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>
              <a:lnSpc>
                <a:spcPts val="7150"/>
              </a:lnSpc>
            </a:pP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227935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661" r="1931"/>
          <a:stretch/>
        </p:blipFill>
        <p:spPr bwMode="auto">
          <a:xfrm>
            <a:off x="1629696" y="1790700"/>
            <a:ext cx="7489723" cy="6377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21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6858000" y="4152900"/>
            <a:ext cx="83058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Case Study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13989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TextBox 22"/>
          <p:cNvSpPr txBox="1"/>
          <p:nvPr/>
        </p:nvSpPr>
        <p:spPr>
          <a:xfrm>
            <a:off x="3124200" y="4381500"/>
            <a:ext cx="118872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Let’s Check Our Understanding So far !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78276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19751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1. </a:t>
            </a:r>
            <a:r>
              <a:rPr lang="en-US" sz="3600" dirty="0"/>
              <a:t>What’s a special feature of JSX, not found in XML or XHTML?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b="1" dirty="0" smtClean="0">
                <a:solidFill>
                  <a:srgbClr val="000000"/>
                </a:solidFill>
                <a:latin typeface="var( --font-family-body-lesson-markdown"/>
              </a:rPr>
              <a:t>JSX </a:t>
            </a:r>
            <a:r>
              <a:rPr lang="en-US" sz="3600" b="1" dirty="0">
                <a:solidFill>
                  <a:srgbClr val="000000"/>
                </a:solidFill>
                <a:latin typeface="var( --font-family-body-lesson-markdown"/>
              </a:rPr>
              <a:t>can use JavaScript </a:t>
            </a:r>
            <a:r>
              <a:rPr lang="en-US" sz="3600" b="1" dirty="0" smtClean="0">
                <a:solidFill>
                  <a:srgbClr val="000000"/>
                </a:solidFill>
                <a:latin typeface="var( --font-family-body-lesson-markdown"/>
              </a:rPr>
              <a:t>expressions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b="1" dirty="0"/>
              <a:t>JSX can return multiple </a:t>
            </a:r>
            <a:r>
              <a:rPr lang="en-US" sz="3600" b="1" dirty="0" smtClean="0"/>
              <a:t>elements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b="1" dirty="0"/>
              <a:t>HTML attributes and event references do not have to be written in camelCase while writing </a:t>
            </a:r>
            <a:r>
              <a:rPr lang="en-US" sz="3600" b="1" dirty="0" smtClean="0"/>
              <a:t>JSX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b="1" dirty="0"/>
              <a:t>All of the above</a:t>
            </a:r>
            <a:endParaRPr lang="en-US" sz="3600" b="1" i="0" dirty="0">
              <a:solidFill>
                <a:srgbClr val="000000"/>
              </a:solidFill>
              <a:effectLst/>
              <a:latin typeface="var( --font-family-body-lesson-markdown"/>
            </a:endParaRPr>
          </a:p>
        </p:txBody>
      </p:sp>
    </p:spTree>
    <p:extLst>
      <p:ext uri="{BB962C8B-B14F-4D97-AF65-F5344CB8AC3E}">
        <p14:creationId xmlns:p14="http://schemas.microsoft.com/office/powerpoint/2010/main" val="359059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49607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374151"/>
                </a:solidFill>
                <a:latin typeface="Helvetica Neue"/>
              </a:rPr>
              <a:t>2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/>
              <a:t>When interpreted by the system, JSX elements are transformed into ______.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dirty="0"/>
              <a:t>React.createElement() </a:t>
            </a:r>
            <a:r>
              <a:rPr lang="en-US" sz="3600" dirty="0"/>
              <a:t>calls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Objects</a:t>
            </a:r>
            <a:endParaRPr lang="en-US" sz="3600" b="1" dirty="0" smtClean="0"/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/>
              <a:t>appendChild()</a:t>
            </a:r>
            <a:r>
              <a:rPr lang="en-IN" sz="3600" dirty="0"/>
              <a:t> </a:t>
            </a:r>
            <a:r>
              <a:rPr lang="en-IN" sz="3600" dirty="0" smtClean="0"/>
              <a:t>calls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/>
              <a:t>None of the above</a:t>
            </a:r>
            <a:endParaRPr lang="en-US" sz="3600" b="1" i="0" dirty="0">
              <a:solidFill>
                <a:srgbClr val="000000"/>
              </a:solidFill>
              <a:effectLst/>
              <a:latin typeface="var( --font-family-body-lesson-markdown"/>
            </a:endParaRPr>
          </a:p>
        </p:txBody>
      </p:sp>
    </p:spTree>
    <p:extLst>
      <p:ext uri="{BB962C8B-B14F-4D97-AF65-F5344CB8AC3E}">
        <p14:creationId xmlns:p14="http://schemas.microsoft.com/office/powerpoint/2010/main" val="257516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30043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3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/>
              <a:t>True or False: Multi-line JSX has to be surrounded by parentheses.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dirty="0" smtClean="0"/>
              <a:t>True</a:t>
            </a:r>
            <a:endParaRPr lang="en-US" sz="3600" dirty="0"/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False</a:t>
            </a:r>
            <a:endParaRPr lang="en-US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264052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44769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374151"/>
                </a:solidFill>
                <a:latin typeface="Helvetica Neue"/>
              </a:rPr>
              <a:t>4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/>
              <a:t>What symbol should be used to denote JavaScript expressions within JSX?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dirty="0" smtClean="0"/>
              <a:t>@</a:t>
            </a:r>
            <a:endParaRPr lang="en-US" sz="3600" dirty="0"/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$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b="1" dirty="0" smtClean="0"/>
              <a:t>{}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b="1" dirty="0"/>
              <a:t>#</a:t>
            </a:r>
            <a:endParaRPr lang="en-US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116385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64241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5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/>
              <a:t>True or False: Comments in JSX are written using </a:t>
            </a:r>
            <a:r>
              <a:rPr lang="en-US" sz="3600" dirty="0"/>
              <a:t>&lt;!-- This is a comment --&gt;</a:t>
            </a:r>
            <a:r>
              <a:rPr lang="en-US" sz="3600" dirty="0"/>
              <a:t> notation.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dirty="0" smtClean="0"/>
              <a:t>True</a:t>
            </a:r>
            <a:endParaRPr lang="en-US" sz="3600" dirty="0"/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45828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38003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374151"/>
                </a:solidFill>
                <a:latin typeface="Helvetica Neue"/>
              </a:rPr>
              <a:t>6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/>
              <a:t>True or False: Calling </a:t>
            </a:r>
            <a:r>
              <a:rPr lang="en-US" sz="3600" b="1" dirty="0"/>
              <a:t>React.createElement()</a:t>
            </a:r>
            <a:r>
              <a:rPr lang="en-US" sz="3600" dirty="0"/>
              <a:t> triggers a DOM operation.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dirty="0" smtClean="0"/>
              <a:t>True</a:t>
            </a:r>
            <a:endParaRPr lang="en-US" sz="3600" dirty="0"/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99925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99227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7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/>
              <a:t>True or False: React elements are simple </a:t>
            </a:r>
            <a:r>
              <a:rPr lang="en-US" sz="3600" dirty="0" smtClean="0"/>
              <a:t>objects.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dirty="0" smtClean="0"/>
              <a:t>True</a:t>
            </a:r>
            <a:endParaRPr lang="en-US" sz="3600" dirty="0"/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082612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41761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8. </a:t>
            </a:r>
            <a:r>
              <a:rPr lang="en-US" sz="3600" dirty="0"/>
              <a:t>What is the name of the node that a React element needs to render on?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/>
              <a:t>main node </a:t>
            </a:r>
            <a:endParaRPr lang="en-IN" sz="3600" dirty="0" smtClean="0"/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/>
              <a:t>root </a:t>
            </a:r>
            <a:r>
              <a:rPr lang="en-IN" sz="3600" dirty="0" smtClean="0"/>
              <a:t>node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Render node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All of the above</a:t>
            </a:r>
          </a:p>
        </p:txBody>
      </p:sp>
    </p:spTree>
    <p:extLst>
      <p:ext uri="{BB962C8B-B14F-4D97-AF65-F5344CB8AC3E}">
        <p14:creationId xmlns:p14="http://schemas.microsoft.com/office/powerpoint/2010/main" val="21850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33298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374151"/>
                </a:solidFill>
                <a:latin typeface="Helvetica Neue"/>
              </a:rPr>
              <a:t>9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/>
              <a:t>How many root nodes will you typically have in a React application?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2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0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3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7531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33298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374151"/>
                </a:solidFill>
                <a:latin typeface="Helvetica Neue"/>
              </a:rPr>
              <a:t>9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/>
              <a:t>How many root nodes will you typically have in a React application?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2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0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3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996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62178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10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 smtClean="0"/>
              <a:t>True </a:t>
            </a:r>
            <a:r>
              <a:rPr lang="en-US" sz="3600" dirty="0"/>
              <a:t>or False: The name of a React component should start with a capital letter.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295400" y="3619500"/>
            <a:ext cx="154186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True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False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7653" y="5676900"/>
            <a:ext cx="162178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11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 smtClean="0"/>
              <a:t>True </a:t>
            </a:r>
            <a:r>
              <a:rPr lang="en-US" sz="3600" dirty="0"/>
              <a:t>or False: React components can contain other components</a:t>
            </a:r>
            <a:r>
              <a:rPr lang="en-US" sz="3600" dirty="0" smtClean="0"/>
              <a:t>.</a:t>
            </a:r>
            <a:endParaRPr lang="en-IN" sz="3600" dirty="0"/>
          </a:p>
        </p:txBody>
      </p:sp>
      <p:sp>
        <p:nvSpPr>
          <p:cNvPr id="20" name="Rectangle 19"/>
          <p:cNvSpPr/>
          <p:nvPr/>
        </p:nvSpPr>
        <p:spPr>
          <a:xfrm>
            <a:off x="1300316" y="6664220"/>
            <a:ext cx="154186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True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19845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TextBox 22"/>
          <p:cNvSpPr txBox="1"/>
          <p:nvPr/>
        </p:nvSpPr>
        <p:spPr>
          <a:xfrm>
            <a:off x="8382000" y="4333568"/>
            <a:ext cx="549397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8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 &amp; A</a:t>
            </a:r>
            <a:endParaRPr lang="en-US" sz="8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23044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TextBox 22"/>
          <p:cNvSpPr txBox="1"/>
          <p:nvPr/>
        </p:nvSpPr>
        <p:spPr>
          <a:xfrm>
            <a:off x="7315200" y="4305300"/>
            <a:ext cx="549397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Thank </a:t>
            </a: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You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90651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2277</TotalTime>
  <Words>1002</Words>
  <Application>Microsoft Office PowerPoint</Application>
  <PresentationFormat>Custom</PresentationFormat>
  <Paragraphs>221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Wingdings</vt:lpstr>
      <vt:lpstr>var( --font-family-body-lesson-markdown</vt:lpstr>
      <vt:lpstr>Arial Unicode MS</vt:lpstr>
      <vt:lpstr>Bahnschrift Light</vt:lpstr>
      <vt:lpstr>Barlow Condensed Bold</vt:lpstr>
      <vt:lpstr>Helvetica Neue</vt:lpstr>
      <vt:lpstr>Open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Bibhuranjan Mohanty</dc:creator>
  <cp:lastModifiedBy>pc</cp:lastModifiedBy>
  <cp:revision>77</cp:revision>
  <dcterms:created xsi:type="dcterms:W3CDTF">2006-08-16T00:00:00Z</dcterms:created>
  <dcterms:modified xsi:type="dcterms:W3CDTF">2024-11-15T12:11:20Z</dcterms:modified>
  <dc:identifier>DAGVxd3jlIM</dc:identifier>
</cp:coreProperties>
</file>