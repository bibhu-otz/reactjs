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66" r:id="rId2"/>
    <p:sldId id="256" r:id="rId3"/>
    <p:sldId id="267" r:id="rId4"/>
    <p:sldId id="328" r:id="rId5"/>
    <p:sldId id="369" r:id="rId6"/>
    <p:sldId id="370" r:id="rId7"/>
    <p:sldId id="371" r:id="rId8"/>
    <p:sldId id="365" r:id="rId9"/>
    <p:sldId id="372" r:id="rId10"/>
    <p:sldId id="373" r:id="rId11"/>
    <p:sldId id="374" r:id="rId12"/>
    <p:sldId id="366" r:id="rId13"/>
    <p:sldId id="367" r:id="rId14"/>
    <p:sldId id="368" r:id="rId15"/>
    <p:sldId id="316" r:id="rId16"/>
    <p:sldId id="354" r:id="rId17"/>
    <p:sldId id="355" r:id="rId18"/>
    <p:sldId id="356" r:id="rId19"/>
    <p:sldId id="357" r:id="rId20"/>
    <p:sldId id="358" r:id="rId21"/>
    <p:sldId id="359" r:id="rId22"/>
    <p:sldId id="360" r:id="rId23"/>
    <p:sldId id="361" r:id="rId24"/>
    <p:sldId id="362" r:id="rId25"/>
    <p:sldId id="363" r:id="rId26"/>
    <p:sldId id="364" r:id="rId27"/>
    <p:sldId id="353" r:id="rId28"/>
    <p:sldId id="320" r:id="rId29"/>
  </p:sldIdLst>
  <p:sldSz cx="18288000" cy="10287000"/>
  <p:notesSz cx="6858000" cy="9144000"/>
  <p:embeddedFontLst>
    <p:embeddedFont>
      <p:font typeface="Arial Unicode MS" pitchFamily="34" charset="-128"/>
      <p:regular r:id="rId31"/>
    </p:embeddedFont>
    <p:embeddedFont>
      <p:font typeface="Open Sans Bold" charset="0"/>
      <p:regular r:id="rId32"/>
    </p:embeddedFont>
    <p:embeddedFont>
      <p:font typeface="Calibri" pitchFamily="34" charset="0"/>
      <p:regular r:id="rId33"/>
      <p:bold r:id="rId34"/>
      <p:italic r:id="rId35"/>
      <p:boldItalic r:id="rId36"/>
    </p:embeddedFont>
    <p:embeddedFont>
      <p:font typeface="Barlow Condensed Bold" charset="0"/>
      <p:regular r:id="rId37"/>
    </p:embeddedFont>
    <p:embeddedFont>
      <p:font typeface="Bahnschrift Light" pitchFamily="34" charset="0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-696" y="-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4BF00-AAF9-430F-AF50-86374858FA3A}" type="datetimeFigureOut">
              <a:rPr lang="en-IN" smtClean="0"/>
              <a:t>18-11-2024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DECC8-5B04-4F25-ADF2-D3E4730A92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150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1DECC8-5B04-4F25-ADF2-D3E4730A927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089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54600" y="811530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934200" y="1028700"/>
            <a:ext cx="6021292" cy="24610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461"/>
              </a:lnSpc>
              <a:spcBef>
                <a:spcPct val="0"/>
              </a:spcBef>
            </a:pPr>
            <a:r>
              <a:rPr lang="en-US" sz="15329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React</a:t>
            </a:r>
            <a:endParaRPr lang="en-US" sz="15329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pic>
        <p:nvPicPr>
          <p:cNvPr id="1030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762757"/>
            <a:ext cx="41148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19" name="TextBox 20"/>
          <p:cNvSpPr txBox="1"/>
          <p:nvPr/>
        </p:nvSpPr>
        <p:spPr>
          <a:xfrm>
            <a:off x="7376498" y="2501214"/>
            <a:ext cx="6021292" cy="2421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1461"/>
              </a:lnSpc>
              <a:spcBef>
                <a:spcPct val="0"/>
              </a:spcBef>
            </a:pPr>
            <a:r>
              <a:rPr lang="en-US" sz="13800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Training</a:t>
            </a:r>
            <a:endParaRPr lang="en-US" sz="13800" dirty="0">
              <a:solidFill>
                <a:srgbClr val="00206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59089" y="6242090"/>
            <a:ext cx="6646068" cy="3016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dirty="0" smtClean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 Presented By 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4000" dirty="0">
                <a:solidFill>
                  <a:srgbClr val="FFC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r>
              <a:rPr lang="en-US" sz="4000" dirty="0" smtClean="0">
                <a:solidFill>
                  <a:srgbClr val="FFC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r>
              <a:rPr lang="en-US" sz="3200" b="1" dirty="0" smtClean="0">
                <a:solidFill>
                  <a:srgbClr val="FFC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Barlow Condensed Bold"/>
              </a:rPr>
              <a:t>Bibhuranjan Mohanty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FFC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Barlow Condensed Bold"/>
              </a:rPr>
              <a:t>  Technical Anchor</a:t>
            </a:r>
          </a:p>
          <a:p>
            <a:pPr lvl="1">
              <a:lnSpc>
                <a:spcPct val="150000"/>
              </a:lnSpc>
              <a:spcBef>
                <a:spcPct val="0"/>
              </a:spcBef>
            </a:pPr>
            <a:r>
              <a:rPr lang="en-US" sz="3200" b="1" dirty="0" smtClean="0">
                <a:solidFill>
                  <a:srgbClr val="FFC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  <a:sym typeface="Barlow Condensed Bold"/>
              </a:rPr>
              <a:t>  L&amp;K Department</a:t>
            </a:r>
            <a:endParaRPr lang="en-US" sz="3200" b="1" dirty="0">
              <a:solidFill>
                <a:srgbClr val="FFC000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  <a:sym typeface="Barlow Condensed Bold"/>
            </a:endParaRPr>
          </a:p>
        </p:txBody>
      </p:sp>
      <p:sp>
        <p:nvSpPr>
          <p:cNvPr id="14" name="TextBox 22"/>
          <p:cNvSpPr txBox="1"/>
          <p:nvPr/>
        </p:nvSpPr>
        <p:spPr>
          <a:xfrm>
            <a:off x="7696200" y="4923031"/>
            <a:ext cx="412551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C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SESSION-03</a:t>
            </a:r>
            <a:endParaRPr lang="en-US" sz="6500" b="1" dirty="0">
              <a:solidFill>
                <a:srgbClr val="C00000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10012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0200" y="1940639"/>
            <a:ext cx="4719638" cy="6080929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095093" y="613136"/>
            <a:ext cx="4125510" cy="920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Objectives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902591" y="1915001"/>
            <a:ext cx="9605370" cy="71508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</a:rPr>
              <a:t>Activity  on Previous Session</a:t>
            </a:r>
            <a:endParaRPr lang="en-IN" sz="3600" b="1" dirty="0">
              <a:solidFill>
                <a:srgbClr val="002060"/>
              </a:solidFill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826347" y="4000500"/>
            <a:ext cx="9681614" cy="71508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>
            <a:spAutoFit/>
          </a:bodyPr>
          <a:lstStyle/>
          <a:p>
            <a:r>
              <a:rPr lang="en-US" sz="3600" b="1" dirty="0"/>
              <a:t>Functional </a:t>
            </a:r>
            <a:r>
              <a:rPr lang="en-US" sz="3600" b="1" dirty="0" smtClean="0"/>
              <a:t>Components vs Class Components</a:t>
            </a:r>
            <a:endParaRPr lang="en-IN" sz="3600" b="1" dirty="0">
              <a:solidFill>
                <a:srgbClr val="002060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946837" y="5118918"/>
            <a:ext cx="9561124" cy="71508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002060"/>
                </a:solidFill>
              </a:rPr>
              <a:t>Component composition and hierarchy</a:t>
            </a:r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93" y="2047805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751" y="3009900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4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945" y="4000500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7" name="Rounded Rectangle 36"/>
          <p:cNvSpPr/>
          <p:nvPr/>
        </p:nvSpPr>
        <p:spPr>
          <a:xfrm>
            <a:off x="1826347" y="2909118"/>
            <a:ext cx="9674240" cy="71508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>
            <a:spAutoFit/>
          </a:bodyPr>
          <a:lstStyle/>
          <a:p>
            <a:r>
              <a:rPr lang="en-US" sz="3600" b="1" dirty="0"/>
              <a:t>Importing and </a:t>
            </a:r>
            <a:r>
              <a:rPr lang="en-US" sz="3600" b="1" dirty="0" smtClean="0"/>
              <a:t>Exporting </a:t>
            </a:r>
            <a:r>
              <a:rPr lang="en-US" sz="3600" b="1" dirty="0" smtClean="0"/>
              <a:t>components</a:t>
            </a:r>
            <a:endParaRPr lang="en-IN" sz="3600" b="1" dirty="0">
              <a:solidFill>
                <a:srgbClr val="002060"/>
              </a:solidFill>
            </a:endParaRPr>
          </a:p>
        </p:txBody>
      </p:sp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093" y="5219700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" name="Rounded Rectangle 35"/>
          <p:cNvSpPr/>
          <p:nvPr/>
        </p:nvSpPr>
        <p:spPr>
          <a:xfrm>
            <a:off x="1946837" y="6185718"/>
            <a:ext cx="9585705" cy="715089"/>
          </a:xfrm>
          <a:prstGeom prst="round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>
            <a:spAutoFit/>
          </a:bodyPr>
          <a:lstStyle/>
          <a:p>
            <a:r>
              <a:rPr lang="en-US" sz="3600" b="1" dirty="0" smtClean="0"/>
              <a:t>Props </a:t>
            </a:r>
            <a:r>
              <a:rPr lang="en-US" sz="3600" b="1" dirty="0"/>
              <a:t>and State</a:t>
            </a:r>
            <a:endParaRPr lang="en-IN" sz="3600" b="1" dirty="0">
              <a:solidFill>
                <a:srgbClr val="002060"/>
              </a:solidFill>
            </a:endParaRPr>
          </a:p>
        </p:txBody>
      </p:sp>
      <p:pic>
        <p:nvPicPr>
          <p:cNvPr id="38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68" y="6286500"/>
            <a:ext cx="780460" cy="513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2590800" y="2857500"/>
            <a:ext cx="13504606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C0000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Activity : </a:t>
            </a:r>
          </a:p>
          <a:p>
            <a:pPr>
              <a:lnSpc>
                <a:spcPts val="7150"/>
              </a:lnSpc>
            </a:pP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  <a:p>
            <a:pPr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Building and Deploying a website using React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781618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3581400" y="3946096"/>
            <a:ext cx="1222354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Importing and Exporting components</a:t>
            </a:r>
          </a:p>
        </p:txBody>
      </p:sp>
    </p:spTree>
    <p:extLst>
      <p:ext uri="{BB962C8B-B14F-4D97-AF65-F5344CB8AC3E}">
        <p14:creationId xmlns:p14="http://schemas.microsoft.com/office/powerpoint/2010/main" val="65189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TextBox 22"/>
          <p:cNvSpPr txBox="1"/>
          <p:nvPr/>
        </p:nvSpPr>
        <p:spPr>
          <a:xfrm>
            <a:off x="1297858" y="3619500"/>
            <a:ext cx="15163800" cy="102155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715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002060"/>
                </a:solidFill>
                <a:latin typeface="Bahnschrift Light" pitchFamily="34" charset="0"/>
                <a:ea typeface="Barlow Condensed Bold"/>
                <a:cs typeface="Barlow Condensed Bold"/>
                <a:sym typeface="Barlow Condensed Bold"/>
              </a:rPr>
              <a:t>Modules can export functions, classes, and variables that have been declared within them. </a:t>
            </a:r>
            <a:endParaRPr lang="en-US" sz="2400" dirty="0" smtClean="0">
              <a:solidFill>
                <a:srgbClr val="002060"/>
              </a:solidFill>
              <a:latin typeface="Bahnschrift Light" pitchFamily="34" charset="0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0" name="TextBox 22"/>
          <p:cNvSpPr txBox="1"/>
          <p:nvPr/>
        </p:nvSpPr>
        <p:spPr>
          <a:xfrm>
            <a:off x="1260987" y="4968478"/>
            <a:ext cx="15163800" cy="102155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715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002060"/>
                </a:solidFill>
                <a:latin typeface="Bahnschrift Light" pitchFamily="34" charset="0"/>
                <a:ea typeface="Barlow Condensed Bold"/>
                <a:cs typeface="Barlow Condensed Bold"/>
                <a:sym typeface="Barlow Condensed Bold"/>
              </a:rPr>
              <a:t>Other modules can then import these exports if necessary. </a:t>
            </a:r>
          </a:p>
        </p:txBody>
      </p:sp>
      <p:sp>
        <p:nvSpPr>
          <p:cNvPr id="21" name="TextBox 22"/>
          <p:cNvSpPr txBox="1"/>
          <p:nvPr/>
        </p:nvSpPr>
        <p:spPr>
          <a:xfrm>
            <a:off x="1221658" y="6057900"/>
            <a:ext cx="15163800" cy="204311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715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002060"/>
                </a:solidFill>
                <a:latin typeface="Bahnschrift Light" pitchFamily="34" charset="0"/>
                <a:ea typeface="Barlow Condensed Bold"/>
                <a:cs typeface="Barlow Condensed Bold"/>
                <a:sym typeface="Barlow Condensed Bold"/>
              </a:rPr>
              <a:t>To export these functions and variables, we use a special export keyword. To import these, we use the import keyword.</a:t>
            </a:r>
            <a:endParaRPr lang="en-US" sz="2400" dirty="0">
              <a:solidFill>
                <a:srgbClr val="002060"/>
              </a:solidFill>
              <a:latin typeface="Bahnschrift Light" pitchFamily="34" charset="0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7" name="TextBox 22"/>
          <p:cNvSpPr txBox="1"/>
          <p:nvPr/>
        </p:nvSpPr>
        <p:spPr>
          <a:xfrm>
            <a:off x="1295400" y="1181100"/>
            <a:ext cx="15163800" cy="2043113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7150"/>
              </a:lnSpc>
              <a:buFont typeface="Wingdings" pitchFamily="2" charset="2"/>
              <a:buChar char="q"/>
            </a:pPr>
            <a:r>
              <a:rPr lang="en-US" sz="2400" dirty="0">
                <a:solidFill>
                  <a:srgbClr val="002060"/>
                </a:solidFill>
                <a:latin typeface="Bahnschrift Light" pitchFamily="34" charset="0"/>
                <a:ea typeface="Barlow Condensed Bold"/>
                <a:cs typeface="Barlow Condensed Bold"/>
                <a:sym typeface="Barlow Condensed Bold"/>
              </a:rPr>
              <a:t>Modules restrict the availability of code objects that we declare in JavaScript by making the code in the module only available in the module itself. </a:t>
            </a:r>
          </a:p>
        </p:txBody>
      </p:sp>
      <p:sp>
        <p:nvSpPr>
          <p:cNvPr id="6" name="Rectangle 5"/>
          <p:cNvSpPr/>
          <p:nvPr/>
        </p:nvSpPr>
        <p:spPr>
          <a:xfrm>
            <a:off x="1310148" y="8434923"/>
            <a:ext cx="9144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4000" b="1" dirty="0" smtClean="0"/>
              <a:t>- named exports</a:t>
            </a:r>
            <a:r>
              <a:rPr lang="en-IN" sz="4000" dirty="0"/>
              <a:t> </a:t>
            </a:r>
            <a:r>
              <a:rPr lang="en-IN" sz="4000" dirty="0" smtClean="0"/>
              <a:t>                - </a:t>
            </a:r>
            <a:r>
              <a:rPr lang="en-IN" sz="4000" b="1" dirty="0" smtClean="0"/>
              <a:t>default </a:t>
            </a:r>
            <a:r>
              <a:rPr lang="en-IN" sz="4000" b="1" dirty="0"/>
              <a:t>export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65504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990600" y="1181100"/>
            <a:ext cx="458369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5400" b="1" dirty="0">
                <a:solidFill>
                  <a:srgbClr val="002060"/>
                </a:solidFill>
              </a:rPr>
              <a:t>Named exports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21658" y="2476500"/>
            <a:ext cx="18808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dirty="0"/>
              <a:t>calc.mjs</a:t>
            </a:r>
            <a:endParaRPr lang="en-IN" sz="4000" b="1" dirty="0"/>
          </a:p>
        </p:txBody>
      </p:sp>
      <p:sp>
        <p:nvSpPr>
          <p:cNvPr id="12" name="Rounded Rectangle 11"/>
          <p:cNvSpPr/>
          <p:nvPr/>
        </p:nvSpPr>
        <p:spPr>
          <a:xfrm>
            <a:off x="1371600" y="3314700"/>
            <a:ext cx="14935200" cy="3779758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export const double = (</a:t>
            </a:r>
            <a:r>
              <a:rPr lang="en-US" sz="3600" i="1" dirty="0">
                <a:solidFill>
                  <a:schemeClr val="bg1"/>
                </a:solidFill>
              </a:rPr>
              <a:t>number</a:t>
            </a:r>
            <a:r>
              <a:rPr lang="en-US" sz="3600" dirty="0">
                <a:solidFill>
                  <a:schemeClr val="bg1"/>
                </a:solidFill>
              </a:rPr>
              <a:t>) =&gt; number * 2;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export const square = (</a:t>
            </a:r>
            <a:r>
              <a:rPr lang="en-US" sz="3600" i="1" dirty="0">
                <a:solidFill>
                  <a:schemeClr val="bg1"/>
                </a:solidFill>
              </a:rPr>
              <a:t>number</a:t>
            </a:r>
            <a:r>
              <a:rPr lang="en-US" sz="3600" dirty="0">
                <a:solidFill>
                  <a:schemeClr val="bg1"/>
                </a:solidFill>
              </a:rPr>
              <a:t>) =&gt; number * number;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export const divideBy = (</a:t>
            </a:r>
            <a:r>
              <a:rPr lang="en-US" sz="3600" i="1" dirty="0">
                <a:solidFill>
                  <a:schemeClr val="bg1"/>
                </a:solidFill>
              </a:rPr>
              <a:t>number</a:t>
            </a:r>
            <a:r>
              <a:rPr lang="en-US" sz="3600" dirty="0">
                <a:solidFill>
                  <a:schemeClr val="bg1"/>
                </a:solidFill>
              </a:rPr>
              <a:t>, </a:t>
            </a:r>
            <a:r>
              <a:rPr lang="en-US" sz="3600" i="1" dirty="0">
                <a:solidFill>
                  <a:schemeClr val="bg1"/>
                </a:solidFill>
              </a:rPr>
              <a:t>divisor</a:t>
            </a:r>
            <a:r>
              <a:rPr lang="en-US" sz="3600" dirty="0">
                <a:solidFill>
                  <a:schemeClr val="bg1"/>
                </a:solidFill>
              </a:rPr>
              <a:t>) =&gt; number / divisor; </a:t>
            </a:r>
          </a:p>
          <a:p>
            <a:pPr>
              <a:lnSpc>
                <a:spcPct val="150000"/>
              </a:lnSpc>
            </a:pPr>
            <a:r>
              <a:rPr lang="en-US" sz="3600" dirty="0">
                <a:solidFill>
                  <a:schemeClr val="bg1"/>
                </a:solidFill>
              </a:rPr>
              <a:t>export const divideBy5 = (</a:t>
            </a:r>
            <a:r>
              <a:rPr lang="en-US" sz="3600" i="1" dirty="0">
                <a:solidFill>
                  <a:schemeClr val="bg1"/>
                </a:solidFill>
              </a:rPr>
              <a:t>number</a:t>
            </a:r>
            <a:r>
              <a:rPr lang="en-US" sz="3600" dirty="0">
                <a:solidFill>
                  <a:schemeClr val="bg1"/>
                </a:solidFill>
              </a:rPr>
              <a:t>) =&gt; divideBy(number, 5);</a:t>
            </a:r>
          </a:p>
        </p:txBody>
      </p:sp>
    </p:spTree>
    <p:extLst>
      <p:ext uri="{BB962C8B-B14F-4D97-AF65-F5344CB8AC3E}">
        <p14:creationId xmlns:p14="http://schemas.microsoft.com/office/powerpoint/2010/main" val="396211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990600" y="1181100"/>
            <a:ext cx="47710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5400" b="1" dirty="0" smtClean="0">
                <a:solidFill>
                  <a:srgbClr val="002060"/>
                </a:solidFill>
              </a:rPr>
              <a:t>Default  </a:t>
            </a:r>
            <a:r>
              <a:rPr lang="en-IN" sz="5400" b="1" dirty="0">
                <a:solidFill>
                  <a:srgbClr val="002060"/>
                </a:solidFill>
              </a:rPr>
              <a:t>exports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21658" y="2400300"/>
            <a:ext cx="1615194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q"/>
            </a:pPr>
            <a:r>
              <a:rPr lang="en-US" sz="2800" dirty="0"/>
              <a:t>default </a:t>
            </a:r>
            <a:r>
              <a:rPr lang="en-US" sz="2800" dirty="0" smtClean="0"/>
              <a:t>export is </a:t>
            </a:r>
            <a:r>
              <a:rPr lang="en-US" sz="2800" dirty="0"/>
              <a:t>a special form of an export that can only be used within a module once, and is declared by using the default keyword.</a:t>
            </a:r>
            <a:endParaRPr lang="en-IN" sz="2800" dirty="0"/>
          </a:p>
        </p:txBody>
      </p:sp>
      <p:sp>
        <p:nvSpPr>
          <p:cNvPr id="14" name="Rectangle 13"/>
          <p:cNvSpPr/>
          <p:nvPr/>
        </p:nvSpPr>
        <p:spPr>
          <a:xfrm>
            <a:off x="1221658" y="3503328"/>
            <a:ext cx="158877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itchFamily="2" charset="2"/>
              <a:buChar char="q"/>
            </a:pPr>
            <a:r>
              <a:rPr lang="en-US" sz="2800" dirty="0"/>
              <a:t>If a variable or function has been marked as default, it is possible to import it without curly brackets. </a:t>
            </a:r>
            <a:endParaRPr lang="en-IN" sz="2800" dirty="0"/>
          </a:p>
        </p:txBody>
      </p:sp>
      <p:sp>
        <p:nvSpPr>
          <p:cNvPr id="19" name="Rectangle 18"/>
          <p:cNvSpPr/>
          <p:nvPr/>
        </p:nvSpPr>
        <p:spPr>
          <a:xfrm>
            <a:off x="1275735" y="4075981"/>
            <a:ext cx="158115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Wingdings" pitchFamily="2" charset="2"/>
              <a:buChar char="q"/>
            </a:pPr>
            <a:r>
              <a:rPr lang="en-US" sz="2800" dirty="0"/>
              <a:t>The </a:t>
            </a:r>
            <a:r>
              <a:rPr lang="en-US" sz="2800" b="1" dirty="0"/>
              <a:t>default export</a:t>
            </a:r>
            <a:r>
              <a:rPr lang="en-US" sz="2800" dirty="0"/>
              <a:t> can alleviate the need for importing many named exports by bundling them into a single default.</a:t>
            </a:r>
            <a:endParaRPr lang="en-IN" sz="2800" dirty="0"/>
          </a:p>
        </p:txBody>
      </p:sp>
      <p:sp>
        <p:nvSpPr>
          <p:cNvPr id="20" name="Rounded Rectangle 19"/>
          <p:cNvSpPr/>
          <p:nvPr/>
        </p:nvSpPr>
        <p:spPr>
          <a:xfrm>
            <a:off x="2209800" y="5033775"/>
            <a:ext cx="13868400" cy="4597003"/>
          </a:xfrm>
          <a:prstGeom prst="round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const double = (number) =&gt; number * 2;</a:t>
            </a:r>
          </a:p>
          <a:p>
            <a:r>
              <a:rPr lang="en-IN" sz="2400" dirty="0">
                <a:solidFill>
                  <a:schemeClr val="bg1"/>
                </a:solidFill>
              </a:rPr>
              <a:t>const square = (number) =&gt; number * number;</a:t>
            </a:r>
          </a:p>
          <a:p>
            <a:r>
              <a:rPr lang="en-IN" sz="2400" dirty="0">
                <a:solidFill>
                  <a:schemeClr val="bg1"/>
                </a:solidFill>
              </a:rPr>
              <a:t>const divideBy = (number, divisor) =&gt; number / divisor;</a:t>
            </a:r>
          </a:p>
          <a:p>
            <a:r>
              <a:rPr lang="en-IN" sz="2400" dirty="0">
                <a:solidFill>
                  <a:schemeClr val="bg1"/>
                </a:solidFill>
              </a:rPr>
              <a:t>const divideBy5 = (number) =&gt; </a:t>
            </a:r>
            <a:r>
              <a:rPr lang="en-IN" sz="2400" dirty="0" err="1">
                <a:solidFill>
                  <a:schemeClr val="bg1"/>
                </a:solidFill>
              </a:rPr>
              <a:t>divideBy</a:t>
            </a:r>
            <a:r>
              <a:rPr lang="en-IN" sz="2400" dirty="0">
                <a:solidFill>
                  <a:schemeClr val="bg1"/>
                </a:solidFill>
              </a:rPr>
              <a:t>(number, 5);</a:t>
            </a:r>
          </a:p>
          <a:p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export default {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double,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square,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divideBy,</a:t>
            </a:r>
          </a:p>
          <a:p>
            <a:r>
              <a:rPr lang="en-IN" sz="2400" dirty="0">
                <a:solidFill>
                  <a:schemeClr val="bg1"/>
                </a:solidFill>
              </a:rPr>
              <a:t>    divideBy5,</a:t>
            </a:r>
          </a:p>
          <a:p>
            <a:r>
              <a:rPr lang="en-IN" sz="2400" dirty="0">
                <a:solidFill>
                  <a:schemeClr val="bg1"/>
                </a:solidFill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53774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3581400" y="4838700"/>
            <a:ext cx="12223548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54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Functional Components vs Class Components</a:t>
            </a:r>
          </a:p>
        </p:txBody>
      </p:sp>
    </p:spTree>
    <p:extLst>
      <p:ext uri="{BB962C8B-B14F-4D97-AF65-F5344CB8AC3E}">
        <p14:creationId xmlns:p14="http://schemas.microsoft.com/office/powerpoint/2010/main" val="203449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571998" y="6105873"/>
            <a:ext cx="7840237" cy="851297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rgbClr val="002060"/>
                </a:solidFill>
              </a:rPr>
              <a:t>Pure Components</a:t>
            </a:r>
            <a:endParaRPr lang="en-IN" sz="4400" b="1" dirty="0">
              <a:solidFill>
                <a:srgbClr val="00206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49877" y="3873377"/>
            <a:ext cx="7862358" cy="85129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rgbClr val="002060"/>
                </a:solidFill>
              </a:rPr>
              <a:t>Functional Components</a:t>
            </a:r>
            <a:endParaRPr lang="en-IN" sz="4400" b="1" dirty="0">
              <a:solidFill>
                <a:srgbClr val="00206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1999" y="4914900"/>
            <a:ext cx="7840236" cy="8512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rgbClr val="002060"/>
                </a:solidFill>
              </a:rPr>
              <a:t>Class Components</a:t>
            </a:r>
            <a:endParaRPr lang="en-IN" sz="4400" b="1" dirty="0">
              <a:solidFill>
                <a:srgbClr val="00206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734048" y="2171700"/>
            <a:ext cx="4438151" cy="1021556"/>
          </a:xfrm>
          <a:prstGeom prst="flowChartAlternateProcess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5400" b="1" dirty="0" smtClean="0"/>
              <a:t>Components </a:t>
            </a:r>
            <a:endParaRPr lang="en-IN" sz="5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4571999" y="7382819"/>
            <a:ext cx="7840237" cy="851297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4400" dirty="0">
                <a:solidFill>
                  <a:srgbClr val="002060"/>
                </a:solidFill>
              </a:rPr>
              <a:t>Higher-Order Components (HOC)</a:t>
            </a:r>
            <a:endParaRPr lang="en-IN" sz="4400" b="1" dirty="0">
              <a:solidFill>
                <a:srgbClr val="002060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1734049" y="2880083"/>
            <a:ext cx="0" cy="49283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endCxn id="19" idx="1"/>
          </p:cNvCxnSpPr>
          <p:nvPr/>
        </p:nvCxnSpPr>
        <p:spPr>
          <a:xfrm>
            <a:off x="1734049" y="4264973"/>
            <a:ext cx="2815828" cy="34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1756171" y="6667500"/>
            <a:ext cx="281582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endCxn id="20" idx="1"/>
          </p:cNvCxnSpPr>
          <p:nvPr/>
        </p:nvCxnSpPr>
        <p:spPr>
          <a:xfrm>
            <a:off x="1756171" y="5340549"/>
            <a:ext cx="28158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1756171" y="7808466"/>
            <a:ext cx="281582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7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371600" y="441223"/>
            <a:ext cx="12223548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5400" b="1" dirty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Functional Components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393724" y="1410683"/>
            <a:ext cx="11767644" cy="6469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3200" dirty="0"/>
              <a:t>Introduced as a simple way to define components.</a:t>
            </a:r>
            <a:endParaRPr lang="en-IN" sz="3200" dirty="0"/>
          </a:p>
        </p:txBody>
      </p:sp>
      <p:sp>
        <p:nvSpPr>
          <p:cNvPr id="6" name="Rounded Rectangle 5"/>
          <p:cNvSpPr/>
          <p:nvPr/>
        </p:nvSpPr>
        <p:spPr>
          <a:xfrm>
            <a:off x="1393723" y="2160861"/>
            <a:ext cx="11767645" cy="6469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3200" b="1" dirty="0"/>
              <a:t>Stateless components</a:t>
            </a:r>
            <a:r>
              <a:rPr lang="en-US" sz="3200" dirty="0"/>
              <a:t> defined using functions.</a:t>
            </a:r>
            <a:endParaRPr lang="en-IN" sz="3200" dirty="0"/>
          </a:p>
        </p:txBody>
      </p:sp>
      <p:sp>
        <p:nvSpPr>
          <p:cNvPr id="11" name="Rounded Rectangle 10"/>
          <p:cNvSpPr/>
          <p:nvPr/>
        </p:nvSpPr>
        <p:spPr>
          <a:xfrm>
            <a:off x="1393724" y="2925565"/>
            <a:ext cx="11767645" cy="6469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3200" dirty="0"/>
              <a:t>Uses React Hooks (e.g., useState, useEffect) for state management.</a:t>
            </a:r>
            <a:endParaRPr lang="en-IN" sz="3200" dirty="0"/>
          </a:p>
        </p:txBody>
      </p:sp>
      <p:sp>
        <p:nvSpPr>
          <p:cNvPr id="13" name="Rounded Rectangle 12"/>
          <p:cNvSpPr/>
          <p:nvPr/>
        </p:nvSpPr>
        <p:spPr>
          <a:xfrm>
            <a:off x="1469923" y="3647165"/>
            <a:ext cx="11615245" cy="6231493"/>
          </a:xfrm>
          <a:prstGeom prst="round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// Functional Component Example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import React, { </a:t>
            </a:r>
            <a:r>
              <a:rPr lang="en-IN" sz="2400" b="1" dirty="0" err="1">
                <a:solidFill>
                  <a:schemeClr val="bg1"/>
                </a:solidFill>
              </a:rPr>
              <a:t>useState</a:t>
            </a:r>
            <a:r>
              <a:rPr lang="en-IN" sz="2400" b="1" dirty="0">
                <a:solidFill>
                  <a:schemeClr val="bg1"/>
                </a:solidFill>
              </a:rPr>
              <a:t> } from 'react';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function Counter() {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const [count, </a:t>
            </a:r>
            <a:r>
              <a:rPr lang="en-IN" sz="2400" b="1" dirty="0" err="1">
                <a:solidFill>
                  <a:schemeClr val="bg1"/>
                </a:solidFill>
              </a:rPr>
              <a:t>setCount</a:t>
            </a:r>
            <a:r>
              <a:rPr lang="en-IN" sz="2400" b="1" dirty="0">
                <a:solidFill>
                  <a:schemeClr val="bg1"/>
                </a:solidFill>
              </a:rPr>
              <a:t>] = </a:t>
            </a:r>
            <a:r>
              <a:rPr lang="en-IN" sz="2400" b="1" dirty="0" err="1">
                <a:solidFill>
                  <a:schemeClr val="bg1"/>
                </a:solidFill>
              </a:rPr>
              <a:t>useState</a:t>
            </a:r>
            <a:r>
              <a:rPr lang="en-IN" sz="2400" b="1" dirty="0">
                <a:solidFill>
                  <a:schemeClr val="bg1"/>
                </a:solidFill>
              </a:rPr>
              <a:t>(0);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  return (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 &lt;div&gt;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   &lt;h2&gt;Count: {count}&lt;/h2&gt;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   &lt;button </a:t>
            </a:r>
            <a:r>
              <a:rPr lang="en-IN" sz="2400" b="1" dirty="0" err="1">
                <a:solidFill>
                  <a:schemeClr val="bg1"/>
                </a:solidFill>
              </a:rPr>
              <a:t>onClick</a:t>
            </a:r>
            <a:r>
              <a:rPr lang="en-IN" sz="2400" b="1" dirty="0">
                <a:solidFill>
                  <a:schemeClr val="bg1"/>
                </a:solidFill>
              </a:rPr>
              <a:t>={() =&gt; </a:t>
            </a:r>
            <a:r>
              <a:rPr lang="en-IN" sz="2400" b="1" dirty="0" err="1">
                <a:solidFill>
                  <a:schemeClr val="bg1"/>
                </a:solidFill>
              </a:rPr>
              <a:t>setCount</a:t>
            </a:r>
            <a:r>
              <a:rPr lang="en-IN" sz="2400" b="1" dirty="0">
                <a:solidFill>
                  <a:schemeClr val="bg1"/>
                </a:solidFill>
              </a:rPr>
              <a:t>(count + 1)}&gt;Increment&lt;/button&gt;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 &lt;/div&gt;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);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}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export default Counter;</a:t>
            </a:r>
          </a:p>
        </p:txBody>
      </p:sp>
    </p:spTree>
    <p:extLst>
      <p:ext uri="{BB962C8B-B14F-4D97-AF65-F5344CB8AC3E}">
        <p14:creationId xmlns:p14="http://schemas.microsoft.com/office/powerpoint/2010/main" val="177564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371600" y="441223"/>
            <a:ext cx="12223548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5400" b="1" dirty="0">
                <a:solidFill>
                  <a:srgbClr val="00206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Class Components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1393724" y="1410683"/>
            <a:ext cx="13770076" cy="6469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3200" dirty="0"/>
              <a:t>Older way of defining components before the introduction of hooks</a:t>
            </a:r>
            <a:endParaRPr lang="en-IN" sz="3200" dirty="0"/>
          </a:p>
        </p:txBody>
      </p:sp>
      <p:sp>
        <p:nvSpPr>
          <p:cNvPr id="6" name="Rounded Rectangle 5"/>
          <p:cNvSpPr/>
          <p:nvPr/>
        </p:nvSpPr>
        <p:spPr>
          <a:xfrm>
            <a:off x="1393723" y="2160861"/>
            <a:ext cx="11767645" cy="6469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3200" b="1" dirty="0"/>
              <a:t>Stateless components</a:t>
            </a:r>
            <a:r>
              <a:rPr lang="en-US" sz="3200" dirty="0"/>
              <a:t> defined using functions.</a:t>
            </a:r>
            <a:endParaRPr lang="en-IN" sz="3200" dirty="0"/>
          </a:p>
        </p:txBody>
      </p:sp>
      <p:sp>
        <p:nvSpPr>
          <p:cNvPr id="11" name="Rounded Rectangle 10"/>
          <p:cNvSpPr/>
          <p:nvPr/>
        </p:nvSpPr>
        <p:spPr>
          <a:xfrm>
            <a:off x="1393724" y="2925565"/>
            <a:ext cx="11767645" cy="64698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3200" dirty="0"/>
              <a:t>Uses React Hooks (e.g., useState, useEffect) for state management.</a:t>
            </a:r>
            <a:endParaRPr lang="en-IN" sz="3200" dirty="0"/>
          </a:p>
        </p:txBody>
      </p:sp>
      <p:sp>
        <p:nvSpPr>
          <p:cNvPr id="13" name="Rounded Rectangle 12"/>
          <p:cNvSpPr/>
          <p:nvPr/>
        </p:nvSpPr>
        <p:spPr>
          <a:xfrm>
            <a:off x="1469923" y="3647165"/>
            <a:ext cx="11615245" cy="6231493"/>
          </a:xfrm>
          <a:prstGeom prst="round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// Functional Component Example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import React, { </a:t>
            </a:r>
            <a:r>
              <a:rPr lang="en-IN" sz="2400" b="1" dirty="0" err="1">
                <a:solidFill>
                  <a:schemeClr val="bg1"/>
                </a:solidFill>
              </a:rPr>
              <a:t>useState</a:t>
            </a:r>
            <a:r>
              <a:rPr lang="en-IN" sz="2400" b="1" dirty="0">
                <a:solidFill>
                  <a:schemeClr val="bg1"/>
                </a:solidFill>
              </a:rPr>
              <a:t> } from 'react';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function Counter() {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const [count, </a:t>
            </a:r>
            <a:r>
              <a:rPr lang="en-IN" sz="2400" b="1" dirty="0" err="1">
                <a:solidFill>
                  <a:schemeClr val="bg1"/>
                </a:solidFill>
              </a:rPr>
              <a:t>setCount</a:t>
            </a:r>
            <a:r>
              <a:rPr lang="en-IN" sz="2400" b="1" dirty="0">
                <a:solidFill>
                  <a:schemeClr val="bg1"/>
                </a:solidFill>
              </a:rPr>
              <a:t>] = </a:t>
            </a:r>
            <a:r>
              <a:rPr lang="en-IN" sz="2400" b="1" dirty="0" err="1">
                <a:solidFill>
                  <a:schemeClr val="bg1"/>
                </a:solidFill>
              </a:rPr>
              <a:t>useState</a:t>
            </a:r>
            <a:r>
              <a:rPr lang="en-IN" sz="2400" b="1" dirty="0">
                <a:solidFill>
                  <a:schemeClr val="bg1"/>
                </a:solidFill>
              </a:rPr>
              <a:t>(0);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  return (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 &lt;div&gt;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   &lt;h2&gt;Count: {count}&lt;/h2&gt;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   &lt;button </a:t>
            </a:r>
            <a:r>
              <a:rPr lang="en-IN" sz="2400" b="1" dirty="0" err="1">
                <a:solidFill>
                  <a:schemeClr val="bg1"/>
                </a:solidFill>
              </a:rPr>
              <a:t>onClick</a:t>
            </a:r>
            <a:r>
              <a:rPr lang="en-IN" sz="2400" b="1" dirty="0">
                <a:solidFill>
                  <a:schemeClr val="bg1"/>
                </a:solidFill>
              </a:rPr>
              <a:t>={() =&gt; </a:t>
            </a:r>
            <a:r>
              <a:rPr lang="en-IN" sz="2400" b="1" dirty="0" err="1">
                <a:solidFill>
                  <a:schemeClr val="bg1"/>
                </a:solidFill>
              </a:rPr>
              <a:t>setCount</a:t>
            </a:r>
            <a:r>
              <a:rPr lang="en-IN" sz="2400" b="1" dirty="0">
                <a:solidFill>
                  <a:schemeClr val="bg1"/>
                </a:solidFill>
              </a:rPr>
              <a:t>(count + 1)}&gt;Increment&lt;/button&gt;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  &lt;/div&gt;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);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}</a:t>
            </a:r>
          </a:p>
          <a:p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export default Counter;</a:t>
            </a:r>
          </a:p>
        </p:txBody>
      </p:sp>
    </p:spTree>
    <p:extLst>
      <p:ext uri="{BB962C8B-B14F-4D97-AF65-F5344CB8AC3E}">
        <p14:creationId xmlns:p14="http://schemas.microsoft.com/office/powerpoint/2010/main" val="281001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3581400" y="4838700"/>
            <a:ext cx="12223548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54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Component composition and hierarchy</a:t>
            </a:r>
          </a:p>
        </p:txBody>
      </p:sp>
    </p:spTree>
    <p:extLst>
      <p:ext uri="{BB962C8B-B14F-4D97-AF65-F5344CB8AC3E}">
        <p14:creationId xmlns:p14="http://schemas.microsoft.com/office/powerpoint/2010/main" val="257284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3581400" y="4838700"/>
            <a:ext cx="12223548" cy="830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54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Component composition and hierarchy</a:t>
            </a:r>
          </a:p>
        </p:txBody>
      </p:sp>
    </p:spTree>
    <p:extLst>
      <p:ext uri="{BB962C8B-B14F-4D97-AF65-F5344CB8AC3E}">
        <p14:creationId xmlns:p14="http://schemas.microsoft.com/office/powerpoint/2010/main" val="344334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6400800" y="4423201"/>
            <a:ext cx="6111774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54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Props and State</a:t>
            </a:r>
          </a:p>
        </p:txBody>
      </p:sp>
    </p:spTree>
    <p:extLst>
      <p:ext uri="{BB962C8B-B14F-4D97-AF65-F5344CB8AC3E}">
        <p14:creationId xmlns:p14="http://schemas.microsoft.com/office/powerpoint/2010/main" val="188618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TextBox 22"/>
          <p:cNvSpPr txBox="1"/>
          <p:nvPr/>
        </p:nvSpPr>
        <p:spPr>
          <a:xfrm>
            <a:off x="3124200" y="4381500"/>
            <a:ext cx="118872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Let’s Check Our Understanding So far !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78276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19751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1. </a:t>
            </a:r>
            <a:r>
              <a:rPr lang="en-US" sz="3600" dirty="0"/>
              <a:t>What’s a special feature of JSX, not found in XML or XHTML?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b="1" dirty="0" smtClean="0">
                <a:solidFill>
                  <a:srgbClr val="000000"/>
                </a:solidFill>
                <a:latin typeface="var( --font-family-body-lesson-markdown"/>
              </a:rPr>
              <a:t>JSX </a:t>
            </a:r>
            <a:r>
              <a:rPr lang="en-US" sz="3600" b="1" dirty="0">
                <a:solidFill>
                  <a:srgbClr val="000000"/>
                </a:solidFill>
                <a:latin typeface="var( --font-family-body-lesson-markdown"/>
              </a:rPr>
              <a:t>can use JavaScript </a:t>
            </a:r>
            <a:r>
              <a:rPr lang="en-US" sz="3600" b="1" dirty="0" smtClean="0">
                <a:solidFill>
                  <a:srgbClr val="000000"/>
                </a:solidFill>
                <a:latin typeface="var( --font-family-body-lesson-markdown"/>
              </a:rPr>
              <a:t>expressions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b="1" dirty="0"/>
              <a:t>JSX can return multiple </a:t>
            </a:r>
            <a:r>
              <a:rPr lang="en-US" sz="3600" b="1" dirty="0" smtClean="0"/>
              <a:t>elements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b="1" dirty="0"/>
              <a:t>HTML attributes and event references do not have to be written in camelCase while writing </a:t>
            </a:r>
            <a:r>
              <a:rPr lang="en-US" sz="3600" b="1" dirty="0" smtClean="0"/>
              <a:t>JSX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b="1" dirty="0"/>
              <a:t>All of the above</a:t>
            </a:r>
            <a:endParaRPr lang="en-US" sz="3600" b="1" i="0" dirty="0">
              <a:solidFill>
                <a:srgbClr val="000000"/>
              </a:solidFill>
              <a:effectLst/>
              <a:latin typeface="var( --font-family-body-lesson-markdown"/>
            </a:endParaRPr>
          </a:p>
        </p:txBody>
      </p:sp>
    </p:spTree>
    <p:extLst>
      <p:ext uri="{BB962C8B-B14F-4D97-AF65-F5344CB8AC3E}">
        <p14:creationId xmlns:p14="http://schemas.microsoft.com/office/powerpoint/2010/main" val="359059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49607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2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When interpreted by the system, JSX elements are transformed into ______.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/>
              <a:t>React.createElement() calls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Objects</a:t>
            </a:r>
            <a:endParaRPr lang="en-US" sz="3600" b="1" dirty="0" smtClean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/>
              <a:t>appendChild() </a:t>
            </a:r>
            <a:r>
              <a:rPr lang="en-IN" sz="3600" dirty="0" smtClean="0"/>
              <a:t>calls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/>
              <a:t>None of the above</a:t>
            </a:r>
            <a:endParaRPr lang="en-US" sz="3600" b="1" i="0" dirty="0">
              <a:solidFill>
                <a:srgbClr val="000000"/>
              </a:solidFill>
              <a:effectLst/>
              <a:latin typeface="var( --font-family-body-lesson-markdown"/>
            </a:endParaRPr>
          </a:p>
        </p:txBody>
      </p:sp>
    </p:spTree>
    <p:extLst>
      <p:ext uri="{BB962C8B-B14F-4D97-AF65-F5344CB8AC3E}">
        <p14:creationId xmlns:p14="http://schemas.microsoft.com/office/powerpoint/2010/main" val="257516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30043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3. </a:t>
            </a:r>
            <a:r>
              <a:rPr lang="en-US" sz="3600" dirty="0"/>
              <a:t>True or False: Multi-line JSX has to be surrounded by parentheses.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 smtClean="0"/>
              <a:t>True</a:t>
            </a:r>
            <a:endParaRPr lang="en-US" sz="3600" dirty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  <a:endParaRPr lang="en-US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2640524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44769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4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What symbol should be used to denote JavaScript expressions within JSX?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 smtClean="0"/>
              <a:t>@</a:t>
            </a:r>
            <a:endParaRPr lang="en-US" sz="3600" dirty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$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b="1" dirty="0" smtClean="0"/>
              <a:t>{}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b="1" dirty="0"/>
              <a:t>#</a:t>
            </a:r>
            <a:endParaRPr lang="en-US" sz="3600" b="1" dirty="0" smtClean="0"/>
          </a:p>
        </p:txBody>
      </p:sp>
    </p:spTree>
    <p:extLst>
      <p:ext uri="{BB962C8B-B14F-4D97-AF65-F5344CB8AC3E}">
        <p14:creationId xmlns:p14="http://schemas.microsoft.com/office/powerpoint/2010/main" val="1163858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642417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5. </a:t>
            </a:r>
            <a:r>
              <a:rPr lang="en-US" sz="3600" dirty="0"/>
              <a:t>True or False: Comments in JSX are written using &lt;!-- This is a comment --&gt; notation.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 smtClean="0"/>
              <a:t>True</a:t>
            </a:r>
            <a:endParaRPr lang="en-US" sz="3600" dirty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458282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38003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6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True or False: Calling </a:t>
            </a:r>
            <a:r>
              <a:rPr lang="en-US" sz="3600" b="1" dirty="0"/>
              <a:t>React.createElement()</a:t>
            </a:r>
            <a:r>
              <a:rPr lang="en-US" sz="3600" dirty="0"/>
              <a:t> triggers a DOM operation.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 smtClean="0"/>
              <a:t>True</a:t>
            </a:r>
            <a:endParaRPr lang="en-US" sz="3600" dirty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99925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99227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7. </a:t>
            </a:r>
            <a:r>
              <a:rPr lang="en-US" sz="3600" dirty="0"/>
              <a:t>True or False: React elements are simple </a:t>
            </a:r>
            <a:r>
              <a:rPr lang="en-US" sz="3600" dirty="0" smtClean="0"/>
              <a:t>objects.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US" sz="3600" dirty="0" smtClean="0"/>
              <a:t>True</a:t>
            </a:r>
            <a:endParaRPr lang="en-US" sz="3600" dirty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082612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41761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8. </a:t>
            </a:r>
            <a:r>
              <a:rPr lang="en-US" sz="3600" dirty="0"/>
              <a:t>What is the name of the node that a React element needs to render on?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/>
              <a:t>main node </a:t>
            </a:r>
            <a:endParaRPr lang="en-IN" sz="3600" dirty="0" smtClean="0"/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/>
              <a:t>root </a:t>
            </a:r>
            <a:r>
              <a:rPr lang="en-IN" sz="3600" dirty="0" smtClean="0"/>
              <a:t>node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Render node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All of the above</a:t>
            </a:r>
          </a:p>
        </p:txBody>
      </p:sp>
    </p:spTree>
    <p:extLst>
      <p:ext uri="{BB962C8B-B14F-4D97-AF65-F5344CB8AC3E}">
        <p14:creationId xmlns:p14="http://schemas.microsoft.com/office/powerpoint/2010/main" val="21850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33298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9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How many root nodes will you typically have in a React application?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2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0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3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7531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33298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374151"/>
                </a:solidFill>
                <a:latin typeface="Helvetica Neue"/>
              </a:rPr>
              <a:t>9</a:t>
            </a:r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. </a:t>
            </a:r>
            <a:r>
              <a:rPr lang="en-US" sz="3600" dirty="0"/>
              <a:t>How many root nodes will you typically have in a React application?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192967" y="4078005"/>
            <a:ext cx="1541863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2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0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3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9969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0" name="TextBox 22"/>
          <p:cNvSpPr txBox="1"/>
          <p:nvPr/>
        </p:nvSpPr>
        <p:spPr>
          <a:xfrm>
            <a:off x="1187651" y="1409700"/>
            <a:ext cx="1379427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150"/>
              </a:lnSpc>
            </a:pPr>
            <a:r>
              <a:rPr lang="en-US" sz="6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Quiz</a:t>
            </a:r>
            <a:endParaRPr lang="en-US" sz="6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155753" y="2781300"/>
            <a:ext cx="162178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10. </a:t>
            </a:r>
            <a:r>
              <a:rPr lang="en-US" sz="3600" dirty="0" smtClean="0"/>
              <a:t>True </a:t>
            </a:r>
            <a:r>
              <a:rPr lang="en-US" sz="3600" dirty="0"/>
              <a:t>or False: The name of a React component should start with a capital letter.</a:t>
            </a:r>
            <a:endParaRPr lang="en-IN" sz="3600" dirty="0"/>
          </a:p>
        </p:txBody>
      </p:sp>
      <p:sp>
        <p:nvSpPr>
          <p:cNvPr id="10" name="Rectangle 9"/>
          <p:cNvSpPr/>
          <p:nvPr/>
        </p:nvSpPr>
        <p:spPr>
          <a:xfrm>
            <a:off x="1295400" y="3619500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True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7653" y="5676900"/>
            <a:ext cx="162178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 smtClean="0">
                <a:solidFill>
                  <a:srgbClr val="374151"/>
                </a:solidFill>
                <a:latin typeface="Helvetica Neue"/>
              </a:rPr>
              <a:t>11. </a:t>
            </a:r>
            <a:r>
              <a:rPr lang="en-US" sz="3600" dirty="0" smtClean="0"/>
              <a:t>True </a:t>
            </a:r>
            <a:r>
              <a:rPr lang="en-US" sz="3600" dirty="0"/>
              <a:t>or False: React components can contain other components</a:t>
            </a:r>
            <a:r>
              <a:rPr lang="en-US" sz="3600" dirty="0" smtClean="0"/>
              <a:t>.</a:t>
            </a:r>
            <a:endParaRPr lang="en-IN" sz="3600" dirty="0"/>
          </a:p>
        </p:txBody>
      </p:sp>
      <p:sp>
        <p:nvSpPr>
          <p:cNvPr id="20" name="Rectangle 19"/>
          <p:cNvSpPr/>
          <p:nvPr/>
        </p:nvSpPr>
        <p:spPr>
          <a:xfrm>
            <a:off x="1300316" y="6664220"/>
            <a:ext cx="1541863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True</a:t>
            </a:r>
          </a:p>
          <a:p>
            <a:pPr marL="742950" indent="-742950">
              <a:lnSpc>
                <a:spcPct val="150000"/>
              </a:lnSpc>
              <a:buAutoNum type="alphaUcParenR"/>
            </a:pPr>
            <a:r>
              <a:rPr lang="en-IN" sz="3600" dirty="0" smtClean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119845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TextBox 22"/>
          <p:cNvSpPr txBox="1"/>
          <p:nvPr/>
        </p:nvSpPr>
        <p:spPr>
          <a:xfrm>
            <a:off x="8382000" y="4333568"/>
            <a:ext cx="549397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80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 &amp; A</a:t>
            </a:r>
            <a:endParaRPr lang="en-US" sz="80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23044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17749838" y="7527480"/>
            <a:ext cx="47625" cy="1740345"/>
            <a:chOff x="0" y="0"/>
            <a:chExt cx="12543" cy="4583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458362"/>
            </a:xfrm>
            <a:custGeom>
              <a:avLst/>
              <a:gdLst/>
              <a:ahLst/>
              <a:cxnLst/>
              <a:rect l="l" t="t" r="r" b="b"/>
              <a:pathLst>
                <a:path w="12543" h="458362">
                  <a:moveTo>
                    <a:pt x="0" y="0"/>
                  </a:moveTo>
                  <a:lnTo>
                    <a:pt x="12543" y="0"/>
                  </a:lnTo>
                  <a:lnTo>
                    <a:pt x="12543" y="458362"/>
                  </a:lnTo>
                  <a:lnTo>
                    <a:pt x="0" y="458362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496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459200" y="0"/>
            <a:ext cx="1828800" cy="800100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45D0FC">
                    <a:alpha val="100000"/>
                  </a:srgbClr>
                </a:gs>
                <a:gs pos="100000">
                  <a:srgbClr val="085DA0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7499918" y="9638067"/>
            <a:ext cx="547464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pic>
        <p:nvPicPr>
          <p:cNvPr id="25" name="Picture 6" descr="Js, react js, logo, react, react native icon - Free downloa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8" y="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1600" y="171450"/>
            <a:ext cx="1447800" cy="476250"/>
          </a:xfrm>
          <a:prstGeom prst="rect">
            <a:avLst/>
          </a:prstGeom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TextBox 22"/>
          <p:cNvSpPr txBox="1"/>
          <p:nvPr/>
        </p:nvSpPr>
        <p:spPr>
          <a:xfrm>
            <a:off x="7315200" y="4305300"/>
            <a:ext cx="5493972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150"/>
              </a:lnSpc>
            </a:pPr>
            <a:r>
              <a:rPr lang="en-US" sz="6500" b="1" dirty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Thank </a:t>
            </a:r>
            <a:r>
              <a:rPr lang="en-US" sz="6500" b="1" dirty="0" smtClean="0">
                <a:solidFill>
                  <a:srgbClr val="02CD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You</a:t>
            </a:r>
            <a:endParaRPr lang="en-US" sz="6500" b="1" dirty="0">
              <a:solidFill>
                <a:srgbClr val="02CD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3906512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3320</TotalTime>
  <Words>817</Words>
  <Application>Microsoft Office PowerPoint</Application>
  <PresentationFormat>Custom</PresentationFormat>
  <Paragraphs>180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Arial Unicode MS</vt:lpstr>
      <vt:lpstr>Open Sans Bold</vt:lpstr>
      <vt:lpstr>Calibri</vt:lpstr>
      <vt:lpstr>var( --font-family-body-lesson-markdown</vt:lpstr>
      <vt:lpstr>Helvetica Neue</vt:lpstr>
      <vt:lpstr>Barlow Condensed Bold</vt:lpstr>
      <vt:lpstr>Bahnschrift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Bibhuranjan Mohanty</dc:creator>
  <cp:lastModifiedBy>pc</cp:lastModifiedBy>
  <cp:revision>89</cp:revision>
  <dcterms:created xsi:type="dcterms:W3CDTF">2006-08-16T00:00:00Z</dcterms:created>
  <dcterms:modified xsi:type="dcterms:W3CDTF">2024-11-18T11:36:30Z</dcterms:modified>
  <dc:identifier>DAGVxd3jlIM</dc:identifier>
</cp:coreProperties>
</file>