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6" r:id="rId2"/>
    <p:sldId id="256" r:id="rId3"/>
    <p:sldId id="267" r:id="rId4"/>
    <p:sldId id="268" r:id="rId5"/>
    <p:sldId id="287" r:id="rId6"/>
    <p:sldId id="288" r:id="rId7"/>
    <p:sldId id="301" r:id="rId8"/>
    <p:sldId id="286" r:id="rId9"/>
    <p:sldId id="289" r:id="rId10"/>
    <p:sldId id="290" r:id="rId11"/>
    <p:sldId id="291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</p:sldIdLst>
  <p:sldSz cx="18288000" cy="10287000"/>
  <p:notesSz cx="6858000" cy="9144000"/>
  <p:embeddedFontLst>
    <p:embeddedFont>
      <p:font typeface="Calibri" panose="020F0502020204030204" pitchFamily="34" charset="0"/>
      <p:regular r:id="rId39"/>
      <p:bold r:id="rId40"/>
      <p:italic r:id="rId41"/>
      <p:boldItalic r:id="rId42"/>
    </p:embeddedFont>
    <p:embeddedFont>
      <p:font typeface="Arial Unicode MS" panose="020B0604020202020204" pitchFamily="34" charset="-128"/>
      <p:regular r:id="rId43"/>
    </p:embeddedFont>
    <p:embeddedFont>
      <p:font typeface="Barlow Condensed Bold" panose="020B0604020202020204" charset="0"/>
      <p:regular r:id="rId44"/>
    </p:embeddedFont>
    <p:embeddedFont>
      <p:font typeface="Open Sans Bold" panose="020B0604020202020204" charset="0"/>
      <p:regular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5" d="100"/>
          <a:sy n="45" d="100"/>
        </p:scale>
        <p:origin x="732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54600" y="811530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6934200" y="2254882"/>
            <a:ext cx="6021292" cy="2461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1461"/>
              </a:lnSpc>
              <a:spcBef>
                <a:spcPct val="0"/>
              </a:spcBef>
            </a:pPr>
            <a:r>
              <a:rPr lang="en-US" sz="15329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React</a:t>
            </a:r>
            <a:endParaRPr lang="en-US" sz="15329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pic>
        <p:nvPicPr>
          <p:cNvPr id="1030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576065"/>
            <a:ext cx="41148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19" name="TextBox 20"/>
          <p:cNvSpPr txBox="1"/>
          <p:nvPr/>
        </p:nvSpPr>
        <p:spPr>
          <a:xfrm>
            <a:off x="7357317" y="3633465"/>
            <a:ext cx="6021292" cy="24218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1461"/>
              </a:lnSpc>
              <a:spcBef>
                <a:spcPct val="0"/>
              </a:spcBef>
            </a:pPr>
            <a:r>
              <a:rPr lang="en-US" sz="13800" dirty="0" smtClean="0">
                <a:solidFill>
                  <a:srgbClr val="002060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Training</a:t>
            </a:r>
            <a:endParaRPr lang="en-US" sz="13800" dirty="0">
              <a:solidFill>
                <a:srgbClr val="002060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59089" y="6242090"/>
            <a:ext cx="6646068" cy="30162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4000" dirty="0" smtClean="0">
                <a:solidFill>
                  <a:srgbClr val="002060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  Presented By </a:t>
            </a:r>
          </a:p>
          <a:p>
            <a:pPr lvl="1">
              <a:lnSpc>
                <a:spcPct val="150000"/>
              </a:lnSpc>
              <a:spcBef>
                <a:spcPct val="0"/>
              </a:spcBef>
            </a:pPr>
            <a:r>
              <a:rPr lang="en-US" sz="4000" dirty="0">
                <a:solidFill>
                  <a:srgbClr val="FFC000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 </a:t>
            </a:r>
            <a:r>
              <a:rPr lang="en-US" sz="4000" dirty="0" smtClean="0">
                <a:solidFill>
                  <a:srgbClr val="FFC000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 </a:t>
            </a:r>
            <a:r>
              <a:rPr lang="en-US" sz="3200" b="1" dirty="0" smtClean="0">
                <a:solidFill>
                  <a:srgbClr val="FFC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  <a:sym typeface="Barlow Condensed Bold"/>
              </a:rPr>
              <a:t>Bibhuranjan Mohanty</a:t>
            </a:r>
          </a:p>
          <a:p>
            <a:pPr lvl="1">
              <a:lnSpc>
                <a:spcPct val="150000"/>
              </a:lnSpc>
              <a:spcBef>
                <a:spcPct val="0"/>
              </a:spcBef>
            </a:pPr>
            <a:r>
              <a:rPr lang="en-US" sz="3200" b="1" dirty="0" smtClean="0">
                <a:solidFill>
                  <a:srgbClr val="FFC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  <a:sym typeface="Barlow Condensed Bold"/>
              </a:rPr>
              <a:t>  </a:t>
            </a:r>
            <a:r>
              <a:rPr lang="en-US" sz="3200" b="1" dirty="0" smtClean="0">
                <a:solidFill>
                  <a:srgbClr val="FFC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  <a:sym typeface="Barlow Condensed Bold"/>
              </a:rPr>
              <a:t>Technical Anchor</a:t>
            </a:r>
          </a:p>
          <a:p>
            <a:pPr lvl="1">
              <a:lnSpc>
                <a:spcPct val="150000"/>
              </a:lnSpc>
              <a:spcBef>
                <a:spcPct val="0"/>
              </a:spcBef>
            </a:pPr>
            <a:r>
              <a:rPr lang="en-US" sz="3200" b="1" dirty="0" smtClean="0">
                <a:solidFill>
                  <a:srgbClr val="FFC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  <a:sym typeface="Barlow Condensed Bold"/>
              </a:rPr>
              <a:t>  L&amp;K Department</a:t>
            </a:r>
            <a:endParaRPr lang="en-US" sz="3200" b="1" dirty="0">
              <a:solidFill>
                <a:srgbClr val="FFC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  <a:sym typeface="Barlow Condensed Bold"/>
            </a:endParaRPr>
          </a:p>
        </p:txBody>
      </p:sp>
    </p:spTree>
    <p:extLst>
      <p:ext uri="{BB962C8B-B14F-4D97-AF65-F5344CB8AC3E}">
        <p14:creationId xmlns:p14="http://schemas.microsoft.com/office/powerpoint/2010/main" val="31001219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4282" y="1940639"/>
            <a:ext cx="9005556" cy="6802758"/>
          </a:xfrm>
          <a:prstGeom prst="rect">
            <a:avLst/>
          </a:prstGeom>
        </p:spPr>
      </p:pic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3" y="894584"/>
            <a:ext cx="4125510" cy="920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Objectives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187654" y="2654910"/>
            <a:ext cx="793685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 smtClean="0">
                <a:solidFill>
                  <a:srgbClr val="002060"/>
                </a:solidFill>
              </a:rPr>
              <a:t>Understanding </a:t>
            </a:r>
            <a:r>
              <a:rPr lang="en-US" sz="3600" dirty="0">
                <a:solidFill>
                  <a:srgbClr val="002060"/>
                </a:solidFill>
              </a:rPr>
              <a:t>the fundamentals of React</a:t>
            </a:r>
            <a:endParaRPr lang="en-IN" sz="3600" dirty="0">
              <a:solidFill>
                <a:srgbClr val="002060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187653" y="3625775"/>
            <a:ext cx="614052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3600" dirty="0" smtClean="0"/>
              <a:t>Building </a:t>
            </a:r>
            <a:r>
              <a:rPr lang="en-IN" sz="3600" dirty="0"/>
              <a:t>interactive applications</a:t>
            </a:r>
            <a:endParaRPr lang="en-IN" sz="36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3" y="1409700"/>
            <a:ext cx="4125510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Agenda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</p:spTree>
    <p:extLst>
      <p:ext uri="{BB962C8B-B14F-4D97-AF65-F5344CB8AC3E}">
        <p14:creationId xmlns:p14="http://schemas.microsoft.com/office/powerpoint/2010/main" val="3781618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1511914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JavaScript Fundamentals Before Learning React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77019" y="2933700"/>
            <a:ext cx="620804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 smtClean="0"/>
              <a:t>Variable Declaration in JS </a:t>
            </a:r>
            <a:endParaRPr lang="en-IN" sz="4400" b="1" dirty="0"/>
          </a:p>
        </p:txBody>
      </p:sp>
      <p:sp>
        <p:nvSpPr>
          <p:cNvPr id="19" name="Rectangle 18"/>
          <p:cNvSpPr/>
          <p:nvPr/>
        </p:nvSpPr>
        <p:spPr>
          <a:xfrm>
            <a:off x="1177019" y="3919090"/>
            <a:ext cx="5823389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4400" b="1" dirty="0" smtClean="0"/>
              <a:t>Operator &amp; Expressions </a:t>
            </a:r>
            <a:endParaRPr lang="en-IN" sz="4400" b="1" dirty="0"/>
          </a:p>
        </p:txBody>
      </p:sp>
      <p:sp>
        <p:nvSpPr>
          <p:cNvPr id="20" name="Rectangle 19"/>
          <p:cNvSpPr/>
          <p:nvPr/>
        </p:nvSpPr>
        <p:spPr>
          <a:xfrm>
            <a:off x="1177018" y="4882008"/>
            <a:ext cx="4202882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4400" b="1" dirty="0" smtClean="0"/>
              <a:t>Ternary Operator</a:t>
            </a:r>
            <a:endParaRPr lang="en-IN" sz="4400" b="1" dirty="0"/>
          </a:p>
        </p:txBody>
      </p:sp>
      <p:sp>
        <p:nvSpPr>
          <p:cNvPr id="21" name="Rectangle 20"/>
          <p:cNvSpPr/>
          <p:nvPr/>
        </p:nvSpPr>
        <p:spPr>
          <a:xfrm>
            <a:off x="1177018" y="5867398"/>
            <a:ext cx="12999200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4400" b="1" dirty="0" smtClean="0"/>
              <a:t>Object Destructuring , Spread Operator , Rest Operator</a:t>
            </a:r>
            <a:endParaRPr lang="en-IN" sz="4400" b="1" dirty="0"/>
          </a:p>
        </p:txBody>
      </p:sp>
      <p:sp>
        <p:nvSpPr>
          <p:cNvPr id="22" name="Rectangle 21"/>
          <p:cNvSpPr/>
          <p:nvPr/>
        </p:nvSpPr>
        <p:spPr>
          <a:xfrm>
            <a:off x="1177017" y="6758039"/>
            <a:ext cx="7927811" cy="280076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 smtClean="0"/>
              <a:t>Function Declaration</a:t>
            </a:r>
          </a:p>
          <a:p>
            <a:r>
              <a:rPr lang="en-US" sz="4400" b="1" dirty="0" smtClean="0"/>
              <a:t>Arrow Function</a:t>
            </a:r>
          </a:p>
          <a:p>
            <a:r>
              <a:rPr lang="en-US" sz="4400" b="1" dirty="0" smtClean="0"/>
              <a:t>Higher Order Function in ReactJs</a:t>
            </a:r>
          </a:p>
          <a:p>
            <a:r>
              <a:rPr lang="en-US" sz="4400" b="1" dirty="0" smtClean="0"/>
              <a:t>Map,Reduce and Filter in ReactJs</a:t>
            </a:r>
            <a:endParaRPr lang="en-IN" sz="4400" b="1" dirty="0"/>
          </a:p>
        </p:txBody>
      </p:sp>
    </p:spTree>
    <p:extLst>
      <p:ext uri="{BB962C8B-B14F-4D97-AF65-F5344CB8AC3E}">
        <p14:creationId xmlns:p14="http://schemas.microsoft.com/office/powerpoint/2010/main" val="2240228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1511914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JavaScript Fundamentals Before Learning React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77019" y="2933700"/>
            <a:ext cx="7240700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 smtClean="0"/>
              <a:t>JS Classes and Object Creation</a:t>
            </a:r>
            <a:endParaRPr lang="en-IN" sz="4400" b="1" dirty="0"/>
          </a:p>
        </p:txBody>
      </p:sp>
      <p:sp>
        <p:nvSpPr>
          <p:cNvPr id="19" name="Rectangle 18"/>
          <p:cNvSpPr/>
          <p:nvPr/>
        </p:nvSpPr>
        <p:spPr>
          <a:xfrm>
            <a:off x="1177019" y="3919090"/>
            <a:ext cx="6881949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4400" b="1" dirty="0" smtClean="0"/>
              <a:t>this keyword &amp; binding in JS </a:t>
            </a:r>
            <a:endParaRPr lang="en-IN" sz="4400" b="1" dirty="0"/>
          </a:p>
        </p:txBody>
      </p:sp>
      <p:sp>
        <p:nvSpPr>
          <p:cNvPr id="20" name="Rectangle 19"/>
          <p:cNvSpPr/>
          <p:nvPr/>
        </p:nvSpPr>
        <p:spPr>
          <a:xfrm>
            <a:off x="1177018" y="4882008"/>
            <a:ext cx="414658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 smtClean="0"/>
              <a:t>Class Inheritance</a:t>
            </a:r>
            <a:endParaRPr lang="en-IN" sz="4400" b="1" dirty="0"/>
          </a:p>
        </p:txBody>
      </p:sp>
      <p:sp>
        <p:nvSpPr>
          <p:cNvPr id="21" name="Rectangle 20"/>
          <p:cNvSpPr/>
          <p:nvPr/>
        </p:nvSpPr>
        <p:spPr>
          <a:xfrm>
            <a:off x="1177018" y="5867398"/>
            <a:ext cx="10333470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 smtClean="0"/>
              <a:t>React </a:t>
            </a:r>
            <a:r>
              <a:rPr lang="en-US" sz="4400" b="1" dirty="0" err="1" smtClean="0"/>
              <a:t>favours</a:t>
            </a:r>
            <a:r>
              <a:rPr lang="en-US" sz="4400" b="1" dirty="0" smtClean="0"/>
              <a:t> composition over inheritance</a:t>
            </a:r>
            <a:endParaRPr lang="en-IN" sz="4400" b="1" dirty="0"/>
          </a:p>
        </p:txBody>
      </p:sp>
    </p:spTree>
    <p:extLst>
      <p:ext uri="{BB962C8B-B14F-4D97-AF65-F5344CB8AC3E}">
        <p14:creationId xmlns:p14="http://schemas.microsoft.com/office/powerpoint/2010/main" val="2729592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1511914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JavaScript Fundamentals Before Learning React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77019" y="2933700"/>
            <a:ext cx="897848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 smtClean="0"/>
              <a:t>Modularity &amp; Import /Export in React</a:t>
            </a:r>
            <a:endParaRPr lang="en-IN" sz="4400" b="1" dirty="0"/>
          </a:p>
        </p:txBody>
      </p:sp>
      <p:sp>
        <p:nvSpPr>
          <p:cNvPr id="19" name="Rectangle 18"/>
          <p:cNvSpPr/>
          <p:nvPr/>
        </p:nvSpPr>
        <p:spPr>
          <a:xfrm>
            <a:off x="1177019" y="3919090"/>
            <a:ext cx="614424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4400" b="1" dirty="0" smtClean="0"/>
              <a:t>Named &amp; Default Exports</a:t>
            </a:r>
            <a:endParaRPr lang="en-IN" sz="4400" b="1" dirty="0"/>
          </a:p>
        </p:txBody>
      </p:sp>
      <p:sp>
        <p:nvSpPr>
          <p:cNvPr id="20" name="Rectangle 19"/>
          <p:cNvSpPr/>
          <p:nvPr/>
        </p:nvSpPr>
        <p:spPr>
          <a:xfrm>
            <a:off x="1177018" y="4882008"/>
            <a:ext cx="4177939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 smtClean="0"/>
              <a:t>Libraries in React</a:t>
            </a:r>
            <a:endParaRPr lang="en-IN" sz="4400" b="1" dirty="0"/>
          </a:p>
        </p:txBody>
      </p:sp>
    </p:spTree>
    <p:extLst>
      <p:ext uri="{BB962C8B-B14F-4D97-AF65-F5344CB8AC3E}">
        <p14:creationId xmlns:p14="http://schemas.microsoft.com/office/powerpoint/2010/main" val="3674721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1511914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What is ES2015?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21" y="2651549"/>
            <a:ext cx="17139247" cy="5778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166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7194347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Introduction to React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77019" y="2933700"/>
            <a:ext cx="365125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4400" b="1" dirty="0"/>
              <a:t>What is React?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890416"/>
            <a:ext cx="1320066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/>
              <a:t>At this point, let’s cite the React documentation that has summarized it nicely:</a:t>
            </a:r>
            <a:endParaRPr lang="en-IN" sz="3200" dirty="0"/>
          </a:p>
        </p:txBody>
      </p:sp>
      <p:sp>
        <p:nvSpPr>
          <p:cNvPr id="11" name="Rectangle 10"/>
          <p:cNvSpPr/>
          <p:nvPr/>
        </p:nvSpPr>
        <p:spPr>
          <a:xfrm>
            <a:off x="1371600" y="4767148"/>
            <a:ext cx="985398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r>
              <a:rPr lang="en-US" sz="3600" dirty="0">
                <a:solidFill>
                  <a:srgbClr val="374151"/>
                </a:solidFill>
                <a:latin typeface="Helvetica Neue"/>
              </a:rPr>
              <a:t>“[React is] a library for building user interfaces.”</a:t>
            </a:r>
            <a:endParaRPr lang="en-IN" sz="3600" dirty="0"/>
          </a:p>
        </p:txBody>
      </p:sp>
      <p:sp>
        <p:nvSpPr>
          <p:cNvPr id="12" name="Rectangle 11"/>
          <p:cNvSpPr/>
          <p:nvPr/>
        </p:nvSpPr>
        <p:spPr>
          <a:xfrm>
            <a:off x="1371600" y="6223445"/>
            <a:ext cx="15087600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/>
              <a:t>React is just a library that makes it easy to develop user interfaces. There are no services or methods to make API </a:t>
            </a:r>
            <a:r>
              <a:rPr lang="en-US" sz="3200" dirty="0" smtClean="0"/>
              <a:t>calls ,</a:t>
            </a:r>
            <a:r>
              <a:rPr lang="en-US" sz="3200" dirty="0"/>
              <a:t>built-in models, or ORM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React is only concerned with user interfaces.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648201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7194347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Introduction to React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77019" y="2933700"/>
            <a:ext cx="365125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4400" b="1" dirty="0"/>
              <a:t>What is React?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7652" y="6998098"/>
            <a:ext cx="3725122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4400" b="1" dirty="0" smtClean="0"/>
              <a:t>How it Works ?</a:t>
            </a:r>
            <a:endParaRPr lang="en-IN" sz="4400" b="1" dirty="0"/>
          </a:p>
        </p:txBody>
      </p:sp>
      <p:sp>
        <p:nvSpPr>
          <p:cNvPr id="10" name="Rectangle 9"/>
          <p:cNvSpPr/>
          <p:nvPr/>
        </p:nvSpPr>
        <p:spPr>
          <a:xfrm>
            <a:off x="1371600" y="3890416"/>
            <a:ext cx="1320066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/>
              <a:t>At this point, let’s cite the React documentation that has summarized it nicely:</a:t>
            </a:r>
            <a:endParaRPr lang="en-IN" sz="3200" dirty="0"/>
          </a:p>
        </p:txBody>
      </p:sp>
      <p:sp>
        <p:nvSpPr>
          <p:cNvPr id="11" name="Rectangle 10"/>
          <p:cNvSpPr/>
          <p:nvPr/>
        </p:nvSpPr>
        <p:spPr>
          <a:xfrm>
            <a:off x="1371600" y="4767148"/>
            <a:ext cx="985398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r>
              <a:rPr lang="en-US" sz="3600" dirty="0">
                <a:solidFill>
                  <a:srgbClr val="374151"/>
                </a:solidFill>
                <a:latin typeface="Helvetica Neue"/>
              </a:rPr>
              <a:t>“[React is] a library for building user interfaces.”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38295074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751617"/>
            <a:ext cx="14661948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When Should I Use React and When Is It Best to Avoid It?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l="15427" t="6216" r="9246"/>
          <a:stretch/>
        </p:blipFill>
        <p:spPr>
          <a:xfrm>
            <a:off x="793898" y="3006098"/>
            <a:ext cx="8039986" cy="663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055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7194347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React is Declarative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791200" y="4686300"/>
            <a:ext cx="6101991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4400" b="1" dirty="0" smtClean="0"/>
              <a:t>Declarative vs Imperative</a:t>
            </a:r>
            <a:endParaRPr lang="en-IN" sz="4400" b="1" dirty="0"/>
          </a:p>
        </p:txBody>
      </p:sp>
    </p:spTree>
    <p:extLst>
      <p:ext uri="{BB962C8B-B14F-4D97-AF65-F5344CB8AC3E}">
        <p14:creationId xmlns:p14="http://schemas.microsoft.com/office/powerpoint/2010/main" val="36461862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7194347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Core </a:t>
            </a:r>
            <a:r>
              <a:rPr lang="en-US" sz="65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Concepts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87652" y="2781300"/>
            <a:ext cx="6080895" cy="39703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Virtual </a:t>
            </a:r>
            <a:r>
              <a:rPr lang="en-US" sz="3600" dirty="0" smtClean="0">
                <a:solidFill>
                  <a:srgbClr val="002060"/>
                </a:solidFill>
              </a:rPr>
              <a:t>DOM</a:t>
            </a:r>
          </a:p>
          <a:p>
            <a:endParaRPr lang="en-US" sz="3600" dirty="0">
              <a:solidFill>
                <a:srgbClr val="002060"/>
              </a:solidFill>
            </a:endParaRPr>
          </a:p>
          <a:p>
            <a:r>
              <a:rPr lang="en-US" sz="3600" dirty="0">
                <a:solidFill>
                  <a:srgbClr val="002060"/>
                </a:solidFill>
              </a:rPr>
              <a:t>Virtual </a:t>
            </a:r>
            <a:r>
              <a:rPr lang="en-US" sz="3600" dirty="0" smtClean="0">
                <a:solidFill>
                  <a:srgbClr val="002060"/>
                </a:solidFill>
              </a:rPr>
              <a:t>DOM  </a:t>
            </a:r>
            <a:r>
              <a:rPr lang="en-US" sz="3600" dirty="0" err="1" smtClean="0">
                <a:solidFill>
                  <a:srgbClr val="002060"/>
                </a:solidFill>
              </a:rPr>
              <a:t>Vs</a:t>
            </a:r>
            <a:r>
              <a:rPr lang="en-US" sz="3600" dirty="0" smtClean="0">
                <a:solidFill>
                  <a:srgbClr val="002060"/>
                </a:solidFill>
              </a:rPr>
              <a:t> Real DOM</a:t>
            </a:r>
          </a:p>
          <a:p>
            <a:endParaRPr lang="en-US" sz="3600" dirty="0">
              <a:solidFill>
                <a:srgbClr val="002060"/>
              </a:solidFill>
            </a:endParaRPr>
          </a:p>
          <a:p>
            <a:r>
              <a:rPr lang="en-US" sz="3600" dirty="0" smtClean="0">
                <a:solidFill>
                  <a:srgbClr val="002060"/>
                </a:solidFill>
              </a:rPr>
              <a:t>JSX</a:t>
            </a:r>
          </a:p>
          <a:p>
            <a:endParaRPr lang="en-US" sz="3600" dirty="0">
              <a:solidFill>
                <a:srgbClr val="002060"/>
              </a:solidFill>
            </a:endParaRPr>
          </a:p>
          <a:p>
            <a:r>
              <a:rPr lang="en-US" sz="3600" dirty="0" smtClean="0">
                <a:solidFill>
                  <a:srgbClr val="002060"/>
                </a:solidFill>
              </a:rPr>
              <a:t>Component-Based </a:t>
            </a:r>
            <a:r>
              <a:rPr lang="en-US" sz="3600" dirty="0">
                <a:solidFill>
                  <a:srgbClr val="002060"/>
                </a:solidFill>
              </a:rPr>
              <a:t>Architecture</a:t>
            </a:r>
            <a:endParaRPr lang="en-IN" sz="3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488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990600" y="693895"/>
            <a:ext cx="1222354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5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Setting Up the Development Environment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90600" y="1764240"/>
            <a:ext cx="3206583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3600" b="1" dirty="0"/>
              <a:t>Tools and Setup</a:t>
            </a:r>
          </a:p>
          <a:p>
            <a:endParaRPr lang="en-IN" sz="3600" dirty="0">
              <a:solidFill>
                <a:srgbClr val="00206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43000" y="2364404"/>
            <a:ext cx="4480714" cy="67403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71500" indent="-5715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3600" b="1" dirty="0">
                <a:solidFill>
                  <a:srgbClr val="002060"/>
                </a:solidFill>
                <a:latin typeface="Helvetica Neue"/>
              </a:rPr>
              <a:t>Node.js and </a:t>
            </a:r>
            <a:r>
              <a:rPr lang="en-IN" sz="3600" b="1" dirty="0" smtClean="0">
                <a:solidFill>
                  <a:srgbClr val="002060"/>
                </a:solidFill>
                <a:latin typeface="Helvetica Neue"/>
              </a:rPr>
              <a:t>npm</a:t>
            </a:r>
          </a:p>
          <a:p>
            <a:pPr marL="571500" indent="-5715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3600" b="1" dirty="0"/>
              <a:t>Yarn</a:t>
            </a:r>
          </a:p>
          <a:p>
            <a:pPr marL="571500" indent="-5715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3600" b="1" dirty="0"/>
              <a:t>Babel</a:t>
            </a:r>
          </a:p>
          <a:p>
            <a:pPr marL="571500" indent="-5715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3600" b="1" dirty="0"/>
              <a:t>Webpack</a:t>
            </a:r>
          </a:p>
          <a:p>
            <a:pPr marL="571500" indent="-5715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3600" b="1" dirty="0"/>
              <a:t>ESLint</a:t>
            </a:r>
          </a:p>
          <a:p>
            <a:pPr marL="571500" indent="-5715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3600" b="1" dirty="0"/>
              <a:t>Prettier</a:t>
            </a:r>
          </a:p>
          <a:p>
            <a:pPr marL="571500" indent="-5715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3600" b="1" dirty="0"/>
              <a:t>IDE/Editor </a:t>
            </a:r>
            <a:r>
              <a:rPr lang="en-IN" sz="3600" b="1" dirty="0" smtClean="0"/>
              <a:t>plugins</a:t>
            </a:r>
          </a:p>
          <a:p>
            <a:pPr marL="571500" indent="-5715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3600" b="1" dirty="0"/>
              <a:t>Browser </a:t>
            </a:r>
            <a:r>
              <a:rPr lang="en-IN" sz="3600" b="1" dirty="0" smtClean="0"/>
              <a:t>plugins</a:t>
            </a:r>
            <a:endParaRPr lang="en-IN" sz="3600" b="1" dirty="0"/>
          </a:p>
        </p:txBody>
      </p:sp>
    </p:spTree>
    <p:extLst>
      <p:ext uri="{BB962C8B-B14F-4D97-AF65-F5344CB8AC3E}">
        <p14:creationId xmlns:p14="http://schemas.microsoft.com/office/powerpoint/2010/main" val="1728259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1222354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Understanding JSX and Rendering Elements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87652" y="2781300"/>
            <a:ext cx="1110233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/>
              <a:t>Introduction to JSX syntax and how elements are rendered</a:t>
            </a:r>
            <a:endParaRPr lang="en-IN" sz="3600" dirty="0">
              <a:solidFill>
                <a:srgbClr val="00206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87652" y="3742729"/>
            <a:ext cx="1032667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/>
              <a:t>Side-by-side comparison of JavaScript vs. JSX, code snippets</a:t>
            </a:r>
            <a:endParaRPr lang="en-IN" sz="3200" b="1" dirty="0"/>
          </a:p>
        </p:txBody>
      </p:sp>
    </p:spTree>
    <p:extLst>
      <p:ext uri="{BB962C8B-B14F-4D97-AF65-F5344CB8AC3E}">
        <p14:creationId xmlns:p14="http://schemas.microsoft.com/office/powerpoint/2010/main" val="3285558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1222354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Components: Building Blocks of React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87652" y="2781300"/>
            <a:ext cx="1320002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/>
              <a:t>Explanation of functional and class components, component lifecycle.</a:t>
            </a:r>
            <a:endParaRPr lang="en-IN" sz="3600" dirty="0">
              <a:solidFill>
                <a:srgbClr val="00206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217778" y="3577453"/>
            <a:ext cx="1417462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/>
              <a:t>Visuals: Diagram of component structure, lifecycle </a:t>
            </a:r>
            <a:r>
              <a:rPr lang="en-US" sz="3200" dirty="0" smtClean="0"/>
              <a:t>flowchart</a:t>
            </a:r>
          </a:p>
          <a:p>
            <a:endParaRPr lang="en-US" sz="3200" dirty="0"/>
          </a:p>
          <a:p>
            <a:r>
              <a:rPr lang="en-US" sz="3200" dirty="0" smtClean="0"/>
              <a:t>Interactive </a:t>
            </a:r>
            <a:r>
              <a:rPr lang="en-US" sz="3200" dirty="0"/>
              <a:t>Element: Code snippets with example outputs in </a:t>
            </a:r>
            <a:r>
              <a:rPr lang="en-US" sz="3200" dirty="0" err="1"/>
              <a:t>CodeSandbox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912558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1222354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Props and </a:t>
            </a: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State Management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53982" y="3281064"/>
            <a:ext cx="14924218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4400" b="1" dirty="0"/>
              <a:t>Content</a:t>
            </a:r>
            <a:r>
              <a:rPr lang="en-US" sz="4400" dirty="0"/>
              <a:t>: Differences between props and state, managing state in components.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4400" b="1" dirty="0"/>
              <a:t>Visuals</a:t>
            </a:r>
            <a:r>
              <a:rPr lang="en-US" sz="4400" dirty="0"/>
              <a:t>: Diagram explaining unidirectional data flow, examples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4400" b="1" dirty="0"/>
              <a:t>Interactive Element</a:t>
            </a:r>
            <a:r>
              <a:rPr lang="en-US" sz="4400" dirty="0"/>
              <a:t>: Quiz on props vs. state usage</a:t>
            </a:r>
          </a:p>
        </p:txBody>
      </p:sp>
    </p:spTree>
    <p:extLst>
      <p:ext uri="{BB962C8B-B14F-4D97-AF65-F5344CB8AC3E}">
        <p14:creationId xmlns:p14="http://schemas.microsoft.com/office/powerpoint/2010/main" val="987081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2" y="1409700"/>
            <a:ext cx="1222354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Handling Events and Conditional Rendering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990600" y="4533900"/>
            <a:ext cx="13991331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Content</a:t>
            </a: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Event handling in React, conditional rendering examples.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Visuals</a:t>
            </a: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Flowchart for event flow, sample code snippets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Interactive Element</a:t>
            </a: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Short exercises for handling events </a:t>
            </a:r>
          </a:p>
        </p:txBody>
      </p:sp>
    </p:spTree>
    <p:extLst>
      <p:ext uri="{BB962C8B-B14F-4D97-AF65-F5344CB8AC3E}">
        <p14:creationId xmlns:p14="http://schemas.microsoft.com/office/powerpoint/2010/main" val="241937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React Hooks: A New Way of Writing Components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1187651" y="3036214"/>
            <a:ext cx="12751889" cy="26161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Content</a:t>
            </a: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Introduce </a:t>
            </a:r>
            <a:r>
              <a:rPr kumimoji="0" lang="en-US" sz="2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useState</a:t>
            </a:r>
            <a:r>
              <a:rPr kumimoji="0" lang="en-US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sz="2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useEffect</a:t>
            </a:r>
            <a:r>
              <a:rPr kumimoji="0" lang="en-US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sz="2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useContext</a:t>
            </a: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advanced hooks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3200" dirty="0"/>
              <a:t> </a:t>
            </a:r>
            <a:r>
              <a:rPr lang="en-US" sz="3200" dirty="0" smtClean="0"/>
              <a:t> </a:t>
            </a: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like </a:t>
            </a:r>
            <a:r>
              <a:rPr kumimoji="0" 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useReducer</a:t>
            </a:r>
            <a:r>
              <a:rPr kumimoji="0" lang="en-US" sz="4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useCallback</a:t>
            </a:r>
            <a:r>
              <a:rPr kumimoji="0" lang="en-US" sz="4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useMemo</a:t>
            </a:r>
            <a:r>
              <a:rPr kumimoji="0" lang="en-US" sz="4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en-US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Visuals</a:t>
            </a: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Separate slides for each hook with usage examples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Interactive Element</a:t>
            </a: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Code challenges for each hook </a:t>
            </a:r>
          </a:p>
        </p:txBody>
      </p:sp>
    </p:spTree>
    <p:extLst>
      <p:ext uri="{BB962C8B-B14F-4D97-AF65-F5344CB8AC3E}">
        <p14:creationId xmlns:p14="http://schemas.microsoft.com/office/powerpoint/2010/main" val="3158897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Advanced State Management with Redux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216004" y="3281064"/>
            <a:ext cx="1410019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3600" dirty="0"/>
              <a:t>Content: Explain the core concepts of Redux (store, actions, reducers) and how to integrate it with React</a:t>
            </a:r>
            <a:r>
              <a:rPr lang="en-US" sz="3600" dirty="0" smtClean="0"/>
              <a:t>.</a:t>
            </a:r>
          </a:p>
          <a:p>
            <a:pPr algn="just"/>
            <a:endParaRPr lang="en-US" sz="3600" dirty="0"/>
          </a:p>
          <a:p>
            <a:pPr algn="just"/>
            <a:r>
              <a:rPr lang="en-US" sz="3600" dirty="0" smtClean="0"/>
              <a:t>Visuals</a:t>
            </a:r>
            <a:r>
              <a:rPr lang="en-US" sz="3600" dirty="0"/>
              <a:t>: Diagram illustrating Redux flow, example </a:t>
            </a:r>
            <a:r>
              <a:rPr lang="en-US" sz="3600" dirty="0" smtClean="0"/>
              <a:t>code</a:t>
            </a:r>
          </a:p>
          <a:p>
            <a:pPr algn="just"/>
            <a:endParaRPr lang="en-US" sz="3600" dirty="0"/>
          </a:p>
          <a:p>
            <a:pPr algn="just"/>
            <a:endParaRPr lang="en-US" sz="3600" dirty="0"/>
          </a:p>
          <a:p>
            <a:pPr algn="just"/>
            <a:r>
              <a:rPr lang="en-US" sz="3600" dirty="0"/>
              <a:t>Interactive </a:t>
            </a:r>
            <a:r>
              <a:rPr lang="en-US" sz="3600" dirty="0" smtClean="0"/>
              <a:t> Element</a:t>
            </a:r>
            <a:r>
              <a:rPr lang="en-US" sz="3600" dirty="0"/>
              <a:t>: Hands-on exercise setting up a Redux store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1892313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Routing with React Router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216004" y="3281064"/>
            <a:ext cx="1410019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3600" dirty="0"/>
              <a:t>Content: Cover basic routing, nested routes, and protected routes</a:t>
            </a:r>
            <a:r>
              <a:rPr lang="en-US" sz="3600" dirty="0" smtClean="0"/>
              <a:t>.</a:t>
            </a:r>
          </a:p>
          <a:p>
            <a:pPr algn="just"/>
            <a:endParaRPr lang="en-US" sz="3600" dirty="0"/>
          </a:p>
          <a:p>
            <a:pPr algn="just"/>
            <a:r>
              <a:rPr lang="en-US" sz="3600" dirty="0" smtClean="0"/>
              <a:t>Visuals</a:t>
            </a:r>
            <a:r>
              <a:rPr lang="en-US" sz="3600" dirty="0"/>
              <a:t>: Example project structure, route </a:t>
            </a:r>
            <a:r>
              <a:rPr lang="en-US" sz="3600" dirty="0" smtClean="0"/>
              <a:t>configurations</a:t>
            </a:r>
          </a:p>
          <a:p>
            <a:pPr algn="just"/>
            <a:endParaRPr lang="en-US" sz="3600" dirty="0"/>
          </a:p>
          <a:p>
            <a:pPr algn="just"/>
            <a:r>
              <a:rPr lang="en-US" sz="3600" dirty="0" smtClean="0"/>
              <a:t>Interactive </a:t>
            </a:r>
            <a:r>
              <a:rPr lang="en-US" sz="3600" dirty="0"/>
              <a:t>Element: Mini-project or example navigation setup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2296694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Performance Optimization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71600" y="3281064"/>
            <a:ext cx="1508760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4400" dirty="0"/>
              <a:t>Content: Concepts like lazy loading, </a:t>
            </a:r>
            <a:r>
              <a:rPr lang="en-IN" sz="4400" dirty="0" err="1"/>
              <a:t>memoization</a:t>
            </a:r>
            <a:r>
              <a:rPr lang="en-IN" sz="4400" dirty="0"/>
              <a:t>, and use of </a:t>
            </a:r>
            <a:r>
              <a:rPr lang="en-IN" sz="4400" dirty="0" err="1"/>
              <a:t>React.memo</a:t>
            </a:r>
            <a:r>
              <a:rPr lang="en-IN" sz="4400" dirty="0"/>
              <a:t>, </a:t>
            </a:r>
            <a:r>
              <a:rPr lang="en-IN" sz="4400" dirty="0" err="1"/>
              <a:t>useCallback</a:t>
            </a:r>
            <a:r>
              <a:rPr lang="en-IN" sz="4400" dirty="0" smtClean="0"/>
              <a:t>.</a:t>
            </a:r>
          </a:p>
          <a:p>
            <a:endParaRPr lang="en-IN" sz="4400" dirty="0"/>
          </a:p>
          <a:p>
            <a:r>
              <a:rPr lang="en-IN" sz="4400" dirty="0" smtClean="0"/>
              <a:t>Visuals</a:t>
            </a:r>
            <a:r>
              <a:rPr lang="en-IN" sz="4400" dirty="0"/>
              <a:t>: Performance comparison graphs, code </a:t>
            </a:r>
            <a:r>
              <a:rPr lang="en-IN" sz="4400" dirty="0" smtClean="0"/>
              <a:t>examples</a:t>
            </a:r>
          </a:p>
          <a:p>
            <a:endParaRPr lang="en-IN" sz="4400" dirty="0"/>
          </a:p>
          <a:p>
            <a:endParaRPr lang="en-IN" sz="4400" dirty="0" smtClean="0"/>
          </a:p>
          <a:p>
            <a:r>
              <a:rPr lang="en-IN" sz="4400" dirty="0" smtClean="0"/>
              <a:t>Interactive </a:t>
            </a:r>
            <a:r>
              <a:rPr lang="en-IN" sz="4400" dirty="0"/>
              <a:t>Element: Performance debugging demo</a:t>
            </a:r>
          </a:p>
        </p:txBody>
      </p:sp>
    </p:spTree>
    <p:extLst>
      <p:ext uri="{BB962C8B-B14F-4D97-AF65-F5344CB8AC3E}">
        <p14:creationId xmlns:p14="http://schemas.microsoft.com/office/powerpoint/2010/main" val="1620061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Performance Optimization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71600" y="3281064"/>
            <a:ext cx="1508760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4400" dirty="0"/>
              <a:t>Content: Concepts like lazy loading, </a:t>
            </a:r>
            <a:r>
              <a:rPr lang="en-IN" sz="4400" dirty="0" err="1"/>
              <a:t>memoization</a:t>
            </a:r>
            <a:r>
              <a:rPr lang="en-IN" sz="4400" dirty="0"/>
              <a:t>, and use of </a:t>
            </a:r>
            <a:r>
              <a:rPr lang="en-IN" sz="4400" dirty="0" err="1"/>
              <a:t>React.memo</a:t>
            </a:r>
            <a:r>
              <a:rPr lang="en-IN" sz="4400" dirty="0"/>
              <a:t>, </a:t>
            </a:r>
            <a:r>
              <a:rPr lang="en-IN" sz="4400" dirty="0" err="1"/>
              <a:t>useCallback</a:t>
            </a:r>
            <a:r>
              <a:rPr lang="en-IN" sz="4400" dirty="0" smtClean="0"/>
              <a:t>.</a:t>
            </a:r>
          </a:p>
          <a:p>
            <a:endParaRPr lang="en-IN" sz="4400" dirty="0"/>
          </a:p>
          <a:p>
            <a:r>
              <a:rPr lang="en-IN" sz="4400" dirty="0" smtClean="0"/>
              <a:t>Visuals</a:t>
            </a:r>
            <a:r>
              <a:rPr lang="en-IN" sz="4400" dirty="0"/>
              <a:t>: Performance comparison graphs, code </a:t>
            </a:r>
            <a:r>
              <a:rPr lang="en-IN" sz="4400" dirty="0" smtClean="0"/>
              <a:t>examples</a:t>
            </a:r>
          </a:p>
          <a:p>
            <a:endParaRPr lang="en-IN" sz="4400" dirty="0"/>
          </a:p>
          <a:p>
            <a:endParaRPr lang="en-IN" sz="4400" dirty="0" smtClean="0"/>
          </a:p>
          <a:p>
            <a:r>
              <a:rPr lang="en-IN" sz="4400" dirty="0" smtClean="0"/>
              <a:t>Interactive </a:t>
            </a:r>
            <a:r>
              <a:rPr lang="en-IN" sz="4400" dirty="0"/>
              <a:t>Element: Performance debugging demo</a:t>
            </a:r>
          </a:p>
        </p:txBody>
      </p:sp>
    </p:spTree>
    <p:extLst>
      <p:ext uri="{BB962C8B-B14F-4D97-AF65-F5344CB8AC3E}">
        <p14:creationId xmlns:p14="http://schemas.microsoft.com/office/powerpoint/2010/main" val="3066766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Testing in React: Tools and Techniques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71600" y="3281064"/>
            <a:ext cx="150876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4400" dirty="0"/>
              <a:t>Content: </a:t>
            </a:r>
            <a:r>
              <a:rPr lang="en-US" sz="4400" dirty="0"/>
              <a:t>Overview of Jest, React Testing Library, writing test cases.</a:t>
            </a:r>
            <a:endParaRPr lang="en-IN" sz="4400" dirty="0"/>
          </a:p>
          <a:p>
            <a:r>
              <a:rPr lang="en-IN" sz="4400" dirty="0" smtClean="0"/>
              <a:t>Visuals</a:t>
            </a:r>
            <a:r>
              <a:rPr lang="en-IN" sz="4400" dirty="0"/>
              <a:t>: </a:t>
            </a:r>
            <a:r>
              <a:rPr lang="en-US" sz="4400" dirty="0"/>
              <a:t>Diagram showing testing process, sample test cases</a:t>
            </a:r>
            <a:endParaRPr lang="en-IN" sz="4400" dirty="0" smtClean="0"/>
          </a:p>
          <a:p>
            <a:endParaRPr lang="en-IN" sz="4400" dirty="0"/>
          </a:p>
          <a:p>
            <a:endParaRPr lang="en-IN" sz="4400" dirty="0" smtClean="0"/>
          </a:p>
          <a:p>
            <a:r>
              <a:rPr lang="en-IN" sz="4400" dirty="0" smtClean="0"/>
              <a:t>Interactive </a:t>
            </a:r>
            <a:r>
              <a:rPr lang="en-IN" sz="4400" dirty="0"/>
              <a:t>Element: </a:t>
            </a:r>
            <a:r>
              <a:rPr lang="en-US" sz="4400" dirty="0"/>
              <a:t>Sample test setup and hands-on testing</a:t>
            </a:r>
            <a:endParaRPr lang="en-IN" sz="4400" dirty="0"/>
          </a:p>
        </p:txBody>
      </p:sp>
    </p:spTree>
    <p:extLst>
      <p:ext uri="{BB962C8B-B14F-4D97-AF65-F5344CB8AC3E}">
        <p14:creationId xmlns:p14="http://schemas.microsoft.com/office/powerpoint/2010/main" val="2564334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Deployment and Best Practices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71600" y="3281064"/>
            <a:ext cx="150876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4400" dirty="0"/>
              <a:t>Content: </a:t>
            </a:r>
            <a:r>
              <a:rPr lang="en-US" sz="4400" dirty="0"/>
              <a:t>Cover deployment to platforms like </a:t>
            </a:r>
            <a:r>
              <a:rPr lang="en-US" sz="4400" dirty="0" err="1"/>
              <a:t>Netlify</a:t>
            </a:r>
            <a:r>
              <a:rPr lang="en-US" sz="4400" dirty="0"/>
              <a:t>, </a:t>
            </a:r>
            <a:r>
              <a:rPr lang="en-US" sz="4400" dirty="0" err="1"/>
              <a:t>Vercel</a:t>
            </a:r>
            <a:r>
              <a:rPr lang="en-US" sz="4400" dirty="0"/>
              <a:t>, and </a:t>
            </a:r>
            <a:r>
              <a:rPr lang="en-US" sz="4400" dirty="0" err="1"/>
              <a:t>GitHub</a:t>
            </a:r>
            <a:r>
              <a:rPr lang="en-US" sz="4400" dirty="0"/>
              <a:t> Pages. Tips on best practices for production.</a:t>
            </a:r>
            <a:endParaRPr lang="en-IN" sz="4400" dirty="0"/>
          </a:p>
          <a:p>
            <a:r>
              <a:rPr lang="en-IN" sz="4400" dirty="0" smtClean="0"/>
              <a:t>Visuals</a:t>
            </a:r>
            <a:r>
              <a:rPr lang="en-IN" sz="4400" dirty="0"/>
              <a:t>: </a:t>
            </a:r>
            <a:r>
              <a:rPr lang="en-US" sz="4400" dirty="0"/>
              <a:t>Flowchart of deployment pipeline, screenshots of sample deployments</a:t>
            </a:r>
            <a:endParaRPr lang="en-IN" sz="4400" dirty="0"/>
          </a:p>
          <a:p>
            <a:endParaRPr lang="en-IN" sz="4400" dirty="0" smtClean="0"/>
          </a:p>
          <a:p>
            <a:r>
              <a:rPr lang="en-IN" sz="4400" dirty="0" smtClean="0"/>
              <a:t>Interactive </a:t>
            </a:r>
            <a:r>
              <a:rPr lang="en-IN" sz="4400" dirty="0"/>
              <a:t>Element: </a:t>
            </a:r>
            <a:r>
              <a:rPr lang="en-US" sz="4400" dirty="0"/>
              <a:t>Walkthrough of deploying a sample app</a:t>
            </a:r>
            <a:endParaRPr lang="en-IN" sz="4400" dirty="0"/>
          </a:p>
        </p:txBody>
      </p:sp>
    </p:spTree>
    <p:extLst>
      <p:ext uri="{BB962C8B-B14F-4D97-AF65-F5344CB8AC3E}">
        <p14:creationId xmlns:p14="http://schemas.microsoft.com/office/powerpoint/2010/main" val="210768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Advanced Patterns and Techniques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71600" y="3281064"/>
            <a:ext cx="150876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4400" dirty="0"/>
              <a:t>Content: </a:t>
            </a:r>
            <a:r>
              <a:rPr lang="en-US" sz="4400" dirty="0"/>
              <a:t>Higher-order components, render props, and context API in-depth</a:t>
            </a:r>
            <a:r>
              <a:rPr lang="en-US" sz="4400" dirty="0" smtClean="0"/>
              <a:t>.</a:t>
            </a:r>
          </a:p>
          <a:p>
            <a:endParaRPr lang="en-IN" sz="4400" dirty="0"/>
          </a:p>
          <a:p>
            <a:r>
              <a:rPr lang="en-IN" sz="4400" dirty="0" smtClean="0"/>
              <a:t>Visuals</a:t>
            </a:r>
            <a:r>
              <a:rPr lang="en-IN" sz="4400" dirty="0"/>
              <a:t>: </a:t>
            </a:r>
            <a:r>
              <a:rPr lang="en-US" sz="4400" dirty="0"/>
              <a:t>Diagrams and examples of advanced </a:t>
            </a:r>
            <a:r>
              <a:rPr lang="en-US" sz="4400" dirty="0" smtClean="0"/>
              <a:t>patterns</a:t>
            </a:r>
          </a:p>
          <a:p>
            <a:endParaRPr lang="en-IN" sz="4400" dirty="0" smtClean="0"/>
          </a:p>
          <a:p>
            <a:r>
              <a:rPr lang="en-IN" sz="4400" dirty="0" smtClean="0"/>
              <a:t>Interactive </a:t>
            </a:r>
            <a:r>
              <a:rPr lang="en-IN" sz="4400" dirty="0"/>
              <a:t>Element: </a:t>
            </a:r>
            <a:r>
              <a:rPr lang="en-US" sz="4400" dirty="0"/>
              <a:t>Mini-project using an advanced pattern</a:t>
            </a:r>
            <a:endParaRPr lang="en-IN" sz="4400" dirty="0"/>
          </a:p>
        </p:txBody>
      </p:sp>
    </p:spTree>
    <p:extLst>
      <p:ext uri="{BB962C8B-B14F-4D97-AF65-F5344CB8AC3E}">
        <p14:creationId xmlns:p14="http://schemas.microsoft.com/office/powerpoint/2010/main" val="3706255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Summary and Q&amp;A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66386" y="3129182"/>
            <a:ext cx="14835614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dirty="0"/>
              <a:t>Content: Recap key takeaways and open the floor for questions</a:t>
            </a:r>
            <a:r>
              <a:rPr lang="en-US" sz="4400" dirty="0" smtClean="0"/>
              <a:t>.</a:t>
            </a:r>
          </a:p>
          <a:p>
            <a:endParaRPr lang="en-US" sz="4400" dirty="0"/>
          </a:p>
          <a:p>
            <a:r>
              <a:rPr lang="en-US" sz="4400" dirty="0" smtClean="0"/>
              <a:t>Visuals</a:t>
            </a:r>
            <a:r>
              <a:rPr lang="en-US" sz="4400" dirty="0"/>
              <a:t>: Summary bullets of key topics </a:t>
            </a:r>
            <a:r>
              <a:rPr lang="en-US" sz="4400" dirty="0" smtClean="0"/>
              <a:t>covered</a:t>
            </a:r>
          </a:p>
          <a:p>
            <a:endParaRPr lang="en-US" sz="4400" dirty="0"/>
          </a:p>
          <a:p>
            <a:r>
              <a:rPr lang="en-US" sz="4400" dirty="0" smtClean="0"/>
              <a:t>Interactive </a:t>
            </a:r>
            <a:r>
              <a:rPr lang="en-US" sz="4400" dirty="0"/>
              <a:t>Element: Live Q&amp;A and feedback poll</a:t>
            </a:r>
            <a:endParaRPr lang="en-IN" sz="4400" dirty="0"/>
          </a:p>
        </p:txBody>
      </p:sp>
    </p:spTree>
    <p:extLst>
      <p:ext uri="{BB962C8B-B14F-4D97-AF65-F5344CB8AC3E}">
        <p14:creationId xmlns:p14="http://schemas.microsoft.com/office/powerpoint/2010/main" val="35844426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Suggestions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166386" y="3129182"/>
            <a:ext cx="14835614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dirty="0"/>
              <a:t>Content: Suggestions for further learning, projects, and resources.</a:t>
            </a:r>
          </a:p>
          <a:p>
            <a:r>
              <a:rPr lang="en-US" sz="4400" dirty="0" smtClean="0"/>
              <a:t>Visuals</a:t>
            </a:r>
            <a:r>
              <a:rPr lang="en-US" sz="4400" dirty="0"/>
              <a:t>: Link to </a:t>
            </a:r>
            <a:r>
              <a:rPr lang="en-US" sz="4400" dirty="0" err="1"/>
              <a:t>GitHub</a:t>
            </a:r>
            <a:r>
              <a:rPr lang="en-US" sz="4400" dirty="0"/>
              <a:t> repositories, suggested </a:t>
            </a:r>
            <a:r>
              <a:rPr lang="en-US" sz="4400" dirty="0" smtClean="0"/>
              <a:t>courses</a:t>
            </a:r>
          </a:p>
          <a:p>
            <a:endParaRPr lang="en-US" sz="4400" dirty="0"/>
          </a:p>
          <a:p>
            <a:r>
              <a:rPr lang="en-US" sz="4400" dirty="0" smtClean="0"/>
              <a:t>Interactive </a:t>
            </a:r>
            <a:r>
              <a:rPr lang="en-US" sz="4400" dirty="0"/>
              <a:t>Element: QR codes to useful online resources and </a:t>
            </a:r>
            <a:r>
              <a:rPr lang="en-US" sz="4400" dirty="0" err="1"/>
              <a:t>GitHub</a:t>
            </a:r>
            <a:r>
              <a:rPr lang="en-US" sz="4400" dirty="0"/>
              <a:t> examples</a:t>
            </a:r>
            <a:endParaRPr lang="en-IN" sz="4400" dirty="0"/>
          </a:p>
        </p:txBody>
      </p:sp>
    </p:spTree>
    <p:extLst>
      <p:ext uri="{BB962C8B-B14F-4D97-AF65-F5344CB8AC3E}">
        <p14:creationId xmlns:p14="http://schemas.microsoft.com/office/powerpoint/2010/main" val="843081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19" name="TextBox 22"/>
          <p:cNvSpPr txBox="1"/>
          <p:nvPr/>
        </p:nvSpPr>
        <p:spPr>
          <a:xfrm>
            <a:off x="7315200" y="4305300"/>
            <a:ext cx="5493972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150"/>
              </a:lnSpc>
            </a:pPr>
            <a:r>
              <a:rPr lang="en-US" sz="6500" b="1" dirty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Thank </a:t>
            </a:r>
            <a:r>
              <a:rPr lang="en-US" sz="65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You</a:t>
            </a:r>
            <a:endParaRPr lang="en-US" sz="65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</p:spTree>
    <p:extLst>
      <p:ext uri="{BB962C8B-B14F-4D97-AF65-F5344CB8AC3E}">
        <p14:creationId xmlns:p14="http://schemas.microsoft.com/office/powerpoint/2010/main" val="28465116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Quiz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55753" y="2781300"/>
            <a:ext cx="887935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 smtClean="0">
                <a:solidFill>
                  <a:srgbClr val="374151"/>
                </a:solidFill>
                <a:latin typeface="Helvetica Neue"/>
              </a:rPr>
              <a:t>1. React </a:t>
            </a:r>
            <a:r>
              <a:rPr lang="en-US" sz="3600" dirty="0">
                <a:solidFill>
                  <a:srgbClr val="374151"/>
                </a:solidFill>
                <a:latin typeface="Helvetica Neue"/>
              </a:rPr>
              <a:t>is mainly used for building _____.</a:t>
            </a:r>
            <a:endParaRPr lang="en-IN" sz="3600" dirty="0"/>
          </a:p>
        </p:txBody>
      </p:sp>
      <p:sp>
        <p:nvSpPr>
          <p:cNvPr id="10" name="Rectangle 9"/>
          <p:cNvSpPr/>
          <p:nvPr/>
        </p:nvSpPr>
        <p:spPr>
          <a:xfrm>
            <a:off x="1192967" y="3453326"/>
            <a:ext cx="9144000" cy="341632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b="1" dirty="0">
                <a:solidFill>
                  <a:srgbClr val="000000"/>
                </a:solidFill>
                <a:latin typeface="Helvetica Neue"/>
              </a:rPr>
              <a:t>A</a:t>
            </a:r>
            <a:r>
              <a:rPr lang="en-US" sz="3600" b="1" dirty="0" smtClean="0">
                <a:solidFill>
                  <a:srgbClr val="000000"/>
                </a:solidFill>
                <a:latin typeface="Helvetica Neue"/>
              </a:rPr>
              <a:t>) </a:t>
            </a:r>
            <a:r>
              <a:rPr lang="en-US" sz="3600" dirty="0" smtClean="0">
                <a:solidFill>
                  <a:srgbClr val="000000"/>
                </a:solidFill>
                <a:latin typeface="var( --font-family-body-lesson-markdown"/>
              </a:rPr>
              <a:t>Database</a:t>
            </a:r>
            <a:endParaRPr lang="en-US" sz="3600" dirty="0">
              <a:solidFill>
                <a:srgbClr val="000000"/>
              </a:solidFill>
              <a:latin typeface="var( --font-family-body-lesson-markdown"/>
            </a:endParaRPr>
          </a:p>
          <a:p>
            <a:pPr>
              <a:lnSpc>
                <a:spcPct val="150000"/>
              </a:lnSpc>
            </a:pPr>
            <a:r>
              <a:rPr lang="en-US" sz="3600" b="1" dirty="0">
                <a:solidFill>
                  <a:srgbClr val="000000"/>
                </a:solidFill>
                <a:latin typeface="Helvetica Neue"/>
              </a:rPr>
              <a:t>B</a:t>
            </a:r>
            <a:r>
              <a:rPr lang="en-US" sz="3600" b="1" dirty="0" smtClean="0">
                <a:solidFill>
                  <a:srgbClr val="000000"/>
                </a:solidFill>
                <a:latin typeface="Helvetica Neue"/>
              </a:rPr>
              <a:t>) </a:t>
            </a:r>
            <a:r>
              <a:rPr lang="en-US" sz="3600" dirty="0" smtClean="0">
                <a:solidFill>
                  <a:srgbClr val="000000"/>
                </a:solidFill>
                <a:latin typeface="var( --font-family-body-lesson-markdown"/>
              </a:rPr>
              <a:t>Connectivity</a:t>
            </a:r>
            <a:endParaRPr lang="en-US" sz="3600" dirty="0">
              <a:solidFill>
                <a:srgbClr val="000000"/>
              </a:solidFill>
              <a:latin typeface="var( --font-family-body-lesson-markdown"/>
            </a:endParaRPr>
          </a:p>
          <a:p>
            <a:pPr>
              <a:lnSpc>
                <a:spcPct val="150000"/>
              </a:lnSpc>
            </a:pPr>
            <a:r>
              <a:rPr lang="en-US" sz="3600" b="1" dirty="0">
                <a:solidFill>
                  <a:srgbClr val="000000"/>
                </a:solidFill>
                <a:latin typeface="Helvetica Neue"/>
              </a:rPr>
              <a:t>C</a:t>
            </a:r>
            <a:r>
              <a:rPr lang="en-US" sz="3600" b="1" dirty="0" smtClean="0">
                <a:solidFill>
                  <a:srgbClr val="000000"/>
                </a:solidFill>
                <a:latin typeface="Helvetica Neue"/>
              </a:rPr>
              <a:t>) </a:t>
            </a:r>
            <a:r>
              <a:rPr lang="en-US" sz="3600" dirty="0" smtClean="0">
                <a:solidFill>
                  <a:srgbClr val="000000"/>
                </a:solidFill>
                <a:latin typeface="var( --font-family-body-lesson-markdown"/>
              </a:rPr>
              <a:t>User </a:t>
            </a:r>
            <a:r>
              <a:rPr lang="en-US" sz="3600" dirty="0">
                <a:solidFill>
                  <a:srgbClr val="000000"/>
                </a:solidFill>
                <a:latin typeface="var( --font-family-body-lesson-markdown"/>
              </a:rPr>
              <a:t>interfaces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solidFill>
                  <a:srgbClr val="000000"/>
                </a:solidFill>
                <a:latin typeface="Helvetica Neue"/>
              </a:rPr>
              <a:t>D</a:t>
            </a:r>
            <a:r>
              <a:rPr lang="en-US" sz="3600" b="1" dirty="0" smtClean="0">
                <a:solidFill>
                  <a:srgbClr val="000000"/>
                </a:solidFill>
                <a:latin typeface="Helvetica Neue"/>
              </a:rPr>
              <a:t>) </a:t>
            </a:r>
            <a:r>
              <a:rPr lang="en-US" sz="3600" dirty="0" smtClean="0">
                <a:solidFill>
                  <a:srgbClr val="000000"/>
                </a:solidFill>
                <a:latin typeface="var( --font-family-body-lesson-markdown"/>
              </a:rPr>
              <a:t>Design </a:t>
            </a:r>
            <a:r>
              <a:rPr lang="en-US" sz="3600" dirty="0">
                <a:solidFill>
                  <a:srgbClr val="000000"/>
                </a:solidFill>
                <a:latin typeface="var( --font-family-body-lesson-markdown"/>
              </a:rPr>
              <a:t>platform</a:t>
            </a:r>
            <a:endParaRPr lang="en-US" sz="3600" b="0" i="0" dirty="0">
              <a:solidFill>
                <a:srgbClr val="000000"/>
              </a:solidFill>
              <a:effectLst/>
              <a:latin typeface="var( --font-family-body-lesson-markdown"/>
            </a:endParaRPr>
          </a:p>
        </p:txBody>
      </p:sp>
    </p:spTree>
    <p:extLst>
      <p:ext uri="{BB962C8B-B14F-4D97-AF65-F5344CB8AC3E}">
        <p14:creationId xmlns:p14="http://schemas.microsoft.com/office/powerpoint/2010/main" val="1916521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Quiz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55752" y="2781300"/>
            <a:ext cx="1576064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374151"/>
                </a:solidFill>
                <a:latin typeface="Helvetica Neue"/>
              </a:rPr>
              <a:t>2</a:t>
            </a:r>
            <a:r>
              <a:rPr lang="en-US" sz="3600" dirty="0" smtClean="0">
                <a:solidFill>
                  <a:srgbClr val="374151"/>
                </a:solidFill>
                <a:latin typeface="Helvetica Neue"/>
              </a:rPr>
              <a:t>. Which </a:t>
            </a:r>
            <a:r>
              <a:rPr lang="en-US" sz="3600" dirty="0">
                <a:solidFill>
                  <a:srgbClr val="374151"/>
                </a:solidFill>
                <a:latin typeface="Helvetica Neue"/>
              </a:rPr>
              <a:t>of the following is used to handle data </a:t>
            </a:r>
            <a:r>
              <a:rPr lang="en-US" sz="3600" dirty="0" smtClean="0">
                <a:solidFill>
                  <a:srgbClr val="374151"/>
                </a:solidFill>
                <a:latin typeface="Helvetica Neue"/>
              </a:rPr>
              <a:t>in React ?</a:t>
            </a:r>
            <a:endParaRPr lang="en-IN" sz="3600" dirty="0"/>
          </a:p>
        </p:txBody>
      </p:sp>
      <p:sp>
        <p:nvSpPr>
          <p:cNvPr id="10" name="Rectangle 9"/>
          <p:cNvSpPr/>
          <p:nvPr/>
        </p:nvSpPr>
        <p:spPr>
          <a:xfrm>
            <a:off x="1676400" y="3474109"/>
            <a:ext cx="9144000" cy="440979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sz="4800" b="1" dirty="0"/>
              <a:t>A)</a:t>
            </a:r>
            <a:r>
              <a:rPr lang="en-US" sz="4800" dirty="0"/>
              <a:t>Component</a:t>
            </a:r>
          </a:p>
          <a:p>
            <a:pPr>
              <a:lnSpc>
                <a:spcPct val="150000"/>
              </a:lnSpc>
            </a:pPr>
            <a:r>
              <a:rPr lang="en-US" sz="4800" b="1" dirty="0"/>
              <a:t>B)</a:t>
            </a:r>
            <a:r>
              <a:rPr lang="en-US" sz="4800" dirty="0"/>
              <a:t>State</a:t>
            </a:r>
          </a:p>
          <a:p>
            <a:pPr>
              <a:lnSpc>
                <a:spcPct val="150000"/>
              </a:lnSpc>
            </a:pPr>
            <a:r>
              <a:rPr lang="en-US" sz="4800" b="1" dirty="0"/>
              <a:t>C)</a:t>
            </a:r>
            <a:r>
              <a:rPr lang="en-US" sz="4800" dirty="0"/>
              <a:t>Model</a:t>
            </a:r>
          </a:p>
          <a:p>
            <a:pPr>
              <a:lnSpc>
                <a:spcPct val="150000"/>
              </a:lnSpc>
            </a:pPr>
            <a:r>
              <a:rPr lang="en-US" sz="4800" b="1" dirty="0"/>
              <a:t>D)</a:t>
            </a:r>
            <a:r>
              <a:rPr lang="en-US" sz="4800" dirty="0"/>
              <a:t>None of the above</a:t>
            </a:r>
          </a:p>
        </p:txBody>
      </p:sp>
    </p:spTree>
    <p:extLst>
      <p:ext uri="{BB962C8B-B14F-4D97-AF65-F5344CB8AC3E}">
        <p14:creationId xmlns:p14="http://schemas.microsoft.com/office/powerpoint/2010/main" val="1522743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Quiz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55752" y="2781300"/>
            <a:ext cx="1576064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374151"/>
                </a:solidFill>
                <a:latin typeface="Helvetica Neue"/>
              </a:rPr>
              <a:t>3. Which command is used to install create-react-app?</a:t>
            </a:r>
            <a:endParaRPr lang="en-IN" sz="3600" dirty="0"/>
          </a:p>
        </p:txBody>
      </p:sp>
      <p:sp>
        <p:nvSpPr>
          <p:cNvPr id="10" name="Rectangle 9"/>
          <p:cNvSpPr/>
          <p:nvPr/>
        </p:nvSpPr>
        <p:spPr>
          <a:xfrm>
            <a:off x="1676400" y="3474109"/>
            <a:ext cx="9144000" cy="4524315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sz="4800" dirty="0" smtClean="0">
                <a:solidFill>
                  <a:srgbClr val="C00000"/>
                </a:solidFill>
              </a:rPr>
              <a:t>A) npm </a:t>
            </a:r>
            <a:r>
              <a:rPr lang="en-US" sz="4800" dirty="0">
                <a:solidFill>
                  <a:srgbClr val="C00000"/>
                </a:solidFill>
              </a:rPr>
              <a:t>install -g create-react-app</a:t>
            </a:r>
          </a:p>
          <a:p>
            <a:pPr>
              <a:lnSpc>
                <a:spcPct val="150000"/>
              </a:lnSpc>
            </a:pPr>
            <a:r>
              <a:rPr lang="en-US" sz="4800" dirty="0" smtClean="0">
                <a:solidFill>
                  <a:srgbClr val="C00000"/>
                </a:solidFill>
              </a:rPr>
              <a:t>B) npm </a:t>
            </a:r>
            <a:r>
              <a:rPr lang="en-US" sz="4800" dirty="0">
                <a:solidFill>
                  <a:srgbClr val="C00000"/>
                </a:solidFill>
              </a:rPr>
              <a:t>create-react-app</a:t>
            </a:r>
          </a:p>
          <a:p>
            <a:pPr>
              <a:lnSpc>
                <a:spcPct val="150000"/>
              </a:lnSpc>
            </a:pPr>
            <a:r>
              <a:rPr lang="en-US" sz="4800" dirty="0" smtClean="0">
                <a:solidFill>
                  <a:srgbClr val="C00000"/>
                </a:solidFill>
              </a:rPr>
              <a:t>C) install </a:t>
            </a:r>
            <a:r>
              <a:rPr lang="en-US" sz="4800" dirty="0">
                <a:solidFill>
                  <a:srgbClr val="C00000"/>
                </a:solidFill>
              </a:rPr>
              <a:t>-g create-react-app</a:t>
            </a:r>
          </a:p>
          <a:p>
            <a:pPr>
              <a:lnSpc>
                <a:spcPct val="150000"/>
              </a:lnSpc>
            </a:pPr>
            <a:r>
              <a:rPr lang="en-US" sz="4800" dirty="0" smtClean="0">
                <a:solidFill>
                  <a:srgbClr val="C00000"/>
                </a:solidFill>
              </a:rPr>
              <a:t>D) None </a:t>
            </a:r>
            <a:r>
              <a:rPr lang="en-US" sz="4800" dirty="0">
                <a:solidFill>
                  <a:srgbClr val="C00000"/>
                </a:solidFill>
              </a:rPr>
              <a:t>of the above</a:t>
            </a:r>
            <a:endParaRPr lang="en-US" sz="4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1919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Quiz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55752" y="2781300"/>
            <a:ext cx="1576064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 smtClean="0">
                <a:solidFill>
                  <a:srgbClr val="374151"/>
                </a:solidFill>
                <a:latin typeface="Helvetica Neue"/>
              </a:rPr>
              <a:t>4</a:t>
            </a:r>
            <a:r>
              <a:rPr lang="en-US" sz="3600" dirty="0">
                <a:solidFill>
                  <a:srgbClr val="374151"/>
                </a:solidFill>
                <a:latin typeface="Helvetica Neue"/>
              </a:rPr>
              <a:t>. Everything in React is a _____.</a:t>
            </a:r>
            <a:endParaRPr lang="en-IN" sz="3600" dirty="0"/>
          </a:p>
        </p:txBody>
      </p:sp>
      <p:sp>
        <p:nvSpPr>
          <p:cNvPr id="10" name="Rectangle 9"/>
          <p:cNvSpPr/>
          <p:nvPr/>
        </p:nvSpPr>
        <p:spPr>
          <a:xfrm>
            <a:off x="1676400" y="3474109"/>
            <a:ext cx="9144000" cy="304698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4800" b="1" dirty="0"/>
              <a:t>A)</a:t>
            </a:r>
            <a:r>
              <a:rPr lang="en-IN" sz="4800" dirty="0"/>
              <a:t>Module</a:t>
            </a:r>
          </a:p>
          <a:p>
            <a:r>
              <a:rPr lang="en-IN" sz="4800" b="1" dirty="0"/>
              <a:t>B)</a:t>
            </a:r>
            <a:r>
              <a:rPr lang="en-IN" sz="4800" dirty="0"/>
              <a:t>Package</a:t>
            </a:r>
          </a:p>
          <a:p>
            <a:r>
              <a:rPr lang="en-IN" sz="4800" b="1" dirty="0"/>
              <a:t>C)</a:t>
            </a:r>
            <a:r>
              <a:rPr lang="en-IN" sz="4800" dirty="0"/>
              <a:t>Class</a:t>
            </a:r>
          </a:p>
          <a:p>
            <a:r>
              <a:rPr lang="en-IN" sz="4800" b="1" dirty="0"/>
              <a:t>D)</a:t>
            </a:r>
            <a:r>
              <a:rPr lang="en-IN" sz="4800" dirty="0"/>
              <a:t>Component</a:t>
            </a:r>
          </a:p>
        </p:txBody>
      </p:sp>
    </p:spTree>
    <p:extLst>
      <p:ext uri="{BB962C8B-B14F-4D97-AF65-F5344CB8AC3E}">
        <p14:creationId xmlns:p14="http://schemas.microsoft.com/office/powerpoint/2010/main" val="1331559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Quiz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55752" y="2781300"/>
            <a:ext cx="16344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374151"/>
                </a:solidFill>
                <a:latin typeface="Helvetica Neue"/>
              </a:rPr>
              <a:t>5</a:t>
            </a:r>
            <a:r>
              <a:rPr lang="en-US" sz="3600" dirty="0" smtClean="0">
                <a:solidFill>
                  <a:srgbClr val="374151"/>
                </a:solidFill>
                <a:latin typeface="Helvetica Neue"/>
              </a:rPr>
              <a:t>.  The </a:t>
            </a:r>
            <a:r>
              <a:rPr lang="en-US" sz="3600" dirty="0">
                <a:solidFill>
                  <a:srgbClr val="374151"/>
                </a:solidFill>
                <a:latin typeface="Helvetica Neue"/>
              </a:rPr>
              <a:t>______ is an officially supported way to create a React application.</a:t>
            </a:r>
            <a:endParaRPr lang="en-IN" sz="3600" dirty="0"/>
          </a:p>
        </p:txBody>
      </p:sp>
      <p:sp>
        <p:nvSpPr>
          <p:cNvPr id="10" name="Rectangle 9"/>
          <p:cNvSpPr/>
          <p:nvPr/>
        </p:nvSpPr>
        <p:spPr>
          <a:xfrm>
            <a:off x="1828800" y="3875901"/>
            <a:ext cx="9144000" cy="526297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4800" b="1" dirty="0" smtClean="0"/>
              <a:t>A) create</a:t>
            </a:r>
            <a:endParaRPr lang="en-US" sz="4800" b="1" dirty="0"/>
          </a:p>
          <a:p>
            <a:endParaRPr lang="en-US" sz="4800" b="1" dirty="0"/>
          </a:p>
          <a:p>
            <a:r>
              <a:rPr lang="en-US" sz="4800" b="1" dirty="0" smtClean="0"/>
              <a:t>B) react-app</a:t>
            </a:r>
            <a:endParaRPr lang="en-US" sz="4800" b="1" dirty="0"/>
          </a:p>
          <a:p>
            <a:endParaRPr lang="en-US" sz="4800" b="1" dirty="0"/>
          </a:p>
          <a:p>
            <a:r>
              <a:rPr lang="en-US" sz="4800" b="1" dirty="0" smtClean="0"/>
              <a:t>C) create-react-app</a:t>
            </a:r>
            <a:endParaRPr lang="en-US" sz="4800" b="1" dirty="0"/>
          </a:p>
          <a:p>
            <a:endParaRPr lang="en-US" sz="4800" b="1" dirty="0"/>
          </a:p>
          <a:p>
            <a:r>
              <a:rPr lang="en-US" sz="4800" b="1" dirty="0" smtClean="0"/>
              <a:t>D) create </a:t>
            </a:r>
            <a:r>
              <a:rPr lang="en-US" sz="4800" b="1" dirty="0"/>
              <a:t>react app</a:t>
            </a:r>
            <a:endParaRPr lang="en-IN" sz="4800" dirty="0"/>
          </a:p>
        </p:txBody>
      </p:sp>
    </p:spTree>
    <p:extLst>
      <p:ext uri="{BB962C8B-B14F-4D97-AF65-F5344CB8AC3E}">
        <p14:creationId xmlns:p14="http://schemas.microsoft.com/office/powerpoint/2010/main" val="3623883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Quiz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55752" y="2781300"/>
            <a:ext cx="16344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 smtClean="0">
                <a:solidFill>
                  <a:srgbClr val="374151"/>
                </a:solidFill>
                <a:latin typeface="Helvetica Neue"/>
              </a:rPr>
              <a:t>6. </a:t>
            </a:r>
            <a:r>
              <a:rPr lang="en-US" sz="3600" dirty="0"/>
              <a:t>What function allows you to render React content on an HTML page?</a:t>
            </a:r>
            <a:endParaRPr lang="en-IN" sz="3600" dirty="0"/>
          </a:p>
        </p:txBody>
      </p:sp>
      <p:sp>
        <p:nvSpPr>
          <p:cNvPr id="10" name="Rectangle 9"/>
          <p:cNvSpPr/>
          <p:nvPr/>
        </p:nvSpPr>
        <p:spPr>
          <a:xfrm>
            <a:off x="1828800" y="3875901"/>
            <a:ext cx="9144000" cy="526297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4800" b="1" dirty="0" smtClean="0"/>
              <a:t>A) ReactDOM.render</a:t>
            </a:r>
            <a:r>
              <a:rPr lang="en-US" sz="4800" b="1" dirty="0"/>
              <a:t>()</a:t>
            </a:r>
          </a:p>
          <a:p>
            <a:endParaRPr lang="en-US" sz="4800" b="1" dirty="0"/>
          </a:p>
          <a:p>
            <a:r>
              <a:rPr lang="en-US" sz="4800" b="1" dirty="0" smtClean="0"/>
              <a:t>B) React.render</a:t>
            </a:r>
            <a:r>
              <a:rPr lang="en-US" sz="4800" b="1" dirty="0"/>
              <a:t>()</a:t>
            </a:r>
          </a:p>
          <a:p>
            <a:endParaRPr lang="en-US" sz="4800" b="1" dirty="0"/>
          </a:p>
          <a:p>
            <a:r>
              <a:rPr lang="en-US" sz="4800" b="1" dirty="0" smtClean="0"/>
              <a:t>C) React.mount</a:t>
            </a:r>
            <a:r>
              <a:rPr lang="en-US" sz="4800" b="1" dirty="0"/>
              <a:t>()</a:t>
            </a:r>
          </a:p>
          <a:p>
            <a:endParaRPr lang="en-US" sz="4800" b="1" dirty="0"/>
          </a:p>
          <a:p>
            <a:r>
              <a:rPr lang="en-US" sz="4800" b="1" dirty="0" smtClean="0"/>
              <a:t>D) ReactDOM.start</a:t>
            </a:r>
            <a:r>
              <a:rPr lang="en-US" sz="4800" b="1" dirty="0"/>
              <a:t>()</a:t>
            </a:r>
            <a:endParaRPr lang="en-IN" sz="4800" dirty="0"/>
          </a:p>
        </p:txBody>
      </p:sp>
    </p:spTree>
    <p:extLst>
      <p:ext uri="{BB962C8B-B14F-4D97-AF65-F5344CB8AC3E}">
        <p14:creationId xmlns:p14="http://schemas.microsoft.com/office/powerpoint/2010/main" val="337242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Quiz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55752" y="2781300"/>
            <a:ext cx="16344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374151"/>
                </a:solidFill>
                <a:latin typeface="Helvetica Neue"/>
              </a:rPr>
              <a:t>7</a:t>
            </a:r>
            <a:r>
              <a:rPr lang="en-US" sz="3600" dirty="0" smtClean="0">
                <a:solidFill>
                  <a:srgbClr val="374151"/>
                </a:solidFill>
                <a:latin typeface="Helvetica Neue"/>
              </a:rPr>
              <a:t>. </a:t>
            </a:r>
            <a:r>
              <a:rPr lang="en-US" sz="3600" dirty="0"/>
              <a:t>What is Reconciliation?</a:t>
            </a:r>
            <a:endParaRPr lang="en-IN" sz="3600" dirty="0"/>
          </a:p>
        </p:txBody>
      </p:sp>
      <p:sp>
        <p:nvSpPr>
          <p:cNvPr id="10" name="Rectangle 9"/>
          <p:cNvSpPr/>
          <p:nvPr/>
        </p:nvSpPr>
        <p:spPr>
          <a:xfrm>
            <a:off x="1672856" y="3759656"/>
            <a:ext cx="1478280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b="1" dirty="0" smtClean="0"/>
              <a:t>A) It </a:t>
            </a:r>
            <a:r>
              <a:rPr lang="en-US" sz="4800" b="1" dirty="0"/>
              <a:t>is a process to set the state</a:t>
            </a:r>
          </a:p>
          <a:p>
            <a:endParaRPr lang="en-US" sz="4800" b="1" dirty="0"/>
          </a:p>
          <a:p>
            <a:r>
              <a:rPr lang="en-US" sz="4800" b="1" dirty="0" smtClean="0"/>
              <a:t>B) The </a:t>
            </a:r>
            <a:r>
              <a:rPr lang="en-US" sz="4800" b="1" dirty="0"/>
              <a:t>process through which React deletes the DOM</a:t>
            </a:r>
          </a:p>
          <a:p>
            <a:endParaRPr lang="en-US" sz="4800" b="1" dirty="0"/>
          </a:p>
          <a:p>
            <a:r>
              <a:rPr lang="en-US" sz="4800" b="1" dirty="0" smtClean="0"/>
              <a:t>C) The </a:t>
            </a:r>
            <a:r>
              <a:rPr lang="en-US" sz="4800" b="1" dirty="0"/>
              <a:t>process through which React updates the DOM</a:t>
            </a:r>
          </a:p>
          <a:p>
            <a:endParaRPr lang="en-US" sz="4800" b="1" dirty="0"/>
          </a:p>
          <a:p>
            <a:r>
              <a:rPr lang="en-US" sz="4800" b="1" dirty="0" smtClean="0"/>
              <a:t>D) None </a:t>
            </a:r>
            <a:r>
              <a:rPr lang="en-US" sz="4800" b="1" dirty="0"/>
              <a:t>of the above</a:t>
            </a:r>
            <a:endParaRPr lang="en-IN" sz="4800" dirty="0"/>
          </a:p>
        </p:txBody>
      </p:sp>
    </p:spTree>
    <p:extLst>
      <p:ext uri="{BB962C8B-B14F-4D97-AF65-F5344CB8AC3E}">
        <p14:creationId xmlns:p14="http://schemas.microsoft.com/office/powerpoint/2010/main" val="277502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Quiz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55752" y="2781300"/>
            <a:ext cx="1634416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 smtClean="0">
                <a:solidFill>
                  <a:srgbClr val="374151"/>
                </a:solidFill>
                <a:latin typeface="Helvetica Neue"/>
              </a:rPr>
              <a:t>8. </a:t>
            </a:r>
            <a:r>
              <a:rPr lang="en-US" sz="3600" dirty="0"/>
              <a:t>JSX allows us to write HTML elements in JavaScript and place them in the DOM without using the _____ method(s).</a:t>
            </a:r>
            <a:endParaRPr lang="en-IN" sz="3600" dirty="0"/>
          </a:p>
        </p:txBody>
      </p:sp>
      <p:sp>
        <p:nvSpPr>
          <p:cNvPr id="10" name="Rectangle 9"/>
          <p:cNvSpPr/>
          <p:nvPr/>
        </p:nvSpPr>
        <p:spPr>
          <a:xfrm>
            <a:off x="1187651" y="4131438"/>
            <a:ext cx="147828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4800" dirty="0" smtClean="0"/>
              <a:t>A) createElement</a:t>
            </a:r>
            <a:endParaRPr lang="en-US" sz="4800" dirty="0"/>
          </a:p>
          <a:p>
            <a:pPr>
              <a:lnSpc>
                <a:spcPct val="150000"/>
              </a:lnSpc>
            </a:pPr>
            <a:r>
              <a:rPr lang="en-US" sz="4800" dirty="0" smtClean="0"/>
              <a:t>B) getElementById</a:t>
            </a:r>
            <a:endParaRPr lang="en-US" sz="4800" dirty="0"/>
          </a:p>
          <a:p>
            <a:pPr>
              <a:lnSpc>
                <a:spcPct val="150000"/>
              </a:lnSpc>
            </a:pPr>
            <a:r>
              <a:rPr lang="en-US" sz="4800" dirty="0" smtClean="0"/>
              <a:t>C) All </a:t>
            </a:r>
            <a:r>
              <a:rPr lang="en-US" sz="4800" dirty="0"/>
              <a:t>of the </a:t>
            </a:r>
            <a:r>
              <a:rPr lang="en-US" sz="4800" dirty="0" smtClean="0"/>
              <a:t>above</a:t>
            </a:r>
            <a:endParaRPr lang="en-US" sz="4800" dirty="0"/>
          </a:p>
          <a:p>
            <a:pPr>
              <a:lnSpc>
                <a:spcPct val="150000"/>
              </a:lnSpc>
            </a:pPr>
            <a:r>
              <a:rPr lang="en-US" sz="4800" dirty="0" smtClean="0"/>
              <a:t>D) None </a:t>
            </a:r>
            <a:r>
              <a:rPr lang="en-US" sz="4800" dirty="0"/>
              <a:t>of the above</a:t>
            </a:r>
            <a:endParaRPr lang="en-IN" sz="4800" dirty="0"/>
          </a:p>
        </p:txBody>
      </p:sp>
    </p:spTree>
    <p:extLst>
      <p:ext uri="{BB962C8B-B14F-4D97-AF65-F5344CB8AC3E}">
        <p14:creationId xmlns:p14="http://schemas.microsoft.com/office/powerpoint/2010/main" val="3331435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7749838" y="7527480"/>
            <a:ext cx="47625" cy="1740345"/>
            <a:chOff x="0" y="0"/>
            <a:chExt cx="12543" cy="45836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458362"/>
            </a:xfrm>
            <a:custGeom>
              <a:avLst/>
              <a:gdLst/>
              <a:ahLst/>
              <a:cxnLst/>
              <a:rect l="l" t="t" r="r" b="b"/>
              <a:pathLst>
                <a:path w="12543" h="458362">
                  <a:moveTo>
                    <a:pt x="0" y="0"/>
                  </a:moveTo>
                  <a:lnTo>
                    <a:pt x="12543" y="0"/>
                  </a:lnTo>
                  <a:lnTo>
                    <a:pt x="12543" y="458362"/>
                  </a:lnTo>
                  <a:lnTo>
                    <a:pt x="0" y="458362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4964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459200" y="0"/>
            <a:ext cx="1828800" cy="800100"/>
            <a:chOff x="0" y="0"/>
            <a:chExt cx="270933" cy="27093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7259300" y="9258300"/>
            <a:ext cx="1028700" cy="1028700"/>
            <a:chOff x="0" y="0"/>
            <a:chExt cx="270933" cy="2709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" cy="270933"/>
            </a:xfrm>
            <a:custGeom>
              <a:avLst/>
              <a:gdLst/>
              <a:ahLst/>
              <a:cxnLst/>
              <a:rect l="l" t="t" r="r" b="b"/>
              <a:pathLst>
                <a:path w="270933" h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 rotWithShape="1">
              <a:gsLst>
                <a:gs pos="0">
                  <a:srgbClr val="45D0FC">
                    <a:alpha val="100000"/>
                  </a:srgbClr>
                </a:gs>
                <a:gs pos="100000">
                  <a:srgbClr val="085DA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499918" y="9638067"/>
            <a:ext cx="547464" cy="240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sz="14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pic>
        <p:nvPicPr>
          <p:cNvPr id="25" name="Picture 6" descr="Js, react js, logo, react, react native icon - Free downloa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8" y="0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600" y="171450"/>
            <a:ext cx="1447800" cy="476250"/>
          </a:xfrm>
          <a:prstGeom prst="rect">
            <a:avLst/>
          </a:prstGeom>
        </p:spPr>
      </p:pic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0" name="TextBox 22"/>
          <p:cNvSpPr txBox="1"/>
          <p:nvPr/>
        </p:nvSpPr>
        <p:spPr>
          <a:xfrm>
            <a:off x="1187651" y="1409700"/>
            <a:ext cx="1379427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en-US" sz="6000" b="1" dirty="0" smtClean="0">
                <a:solidFill>
                  <a:srgbClr val="02CD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Quiz</a:t>
            </a:r>
            <a:endParaRPr lang="en-US" sz="6000" b="1" dirty="0">
              <a:solidFill>
                <a:srgbClr val="02CDFF"/>
              </a:solidFill>
              <a:latin typeface="Barlow Condensed Bold"/>
              <a:ea typeface="Barlow Condensed Bold"/>
              <a:cs typeface="Barlow Condensed Bold"/>
              <a:sym typeface="Barlow Condensed Bold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55752" y="2781300"/>
            <a:ext cx="1634416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374151"/>
                </a:solidFill>
                <a:latin typeface="Helvetica Neue"/>
              </a:rPr>
              <a:t>9</a:t>
            </a:r>
            <a:r>
              <a:rPr lang="en-US" sz="3600" dirty="0" smtClean="0">
                <a:solidFill>
                  <a:srgbClr val="374151"/>
                </a:solidFill>
                <a:latin typeface="Helvetica Neue"/>
              </a:rPr>
              <a:t>. </a:t>
            </a:r>
            <a:r>
              <a:rPr lang="en-US" sz="3600" dirty="0"/>
              <a:t>What command copies build dependencies, configuration files, and scripts into the app directory?</a:t>
            </a:r>
            <a:endParaRPr lang="en-IN" sz="3600" dirty="0"/>
          </a:p>
        </p:txBody>
      </p:sp>
      <p:sp>
        <p:nvSpPr>
          <p:cNvPr id="10" name="Rectangle 9"/>
          <p:cNvSpPr/>
          <p:nvPr/>
        </p:nvSpPr>
        <p:spPr>
          <a:xfrm>
            <a:off x="1187651" y="4131438"/>
            <a:ext cx="147828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4800" dirty="0" smtClean="0"/>
              <a:t>A) yarn </a:t>
            </a:r>
            <a:r>
              <a:rPr lang="en-US" sz="4800" dirty="0"/>
              <a:t>build</a:t>
            </a:r>
          </a:p>
          <a:p>
            <a:pPr>
              <a:lnSpc>
                <a:spcPct val="150000"/>
              </a:lnSpc>
            </a:pPr>
            <a:r>
              <a:rPr lang="en-US" sz="4800" dirty="0" smtClean="0"/>
              <a:t>B) yarn eject</a:t>
            </a:r>
            <a:endParaRPr lang="en-US" sz="4800" dirty="0"/>
          </a:p>
          <a:p>
            <a:pPr>
              <a:lnSpc>
                <a:spcPct val="150000"/>
              </a:lnSpc>
            </a:pPr>
            <a:r>
              <a:rPr lang="en-US" sz="4800" dirty="0" smtClean="0"/>
              <a:t>C) yarn start</a:t>
            </a:r>
            <a:endParaRPr lang="en-US" sz="4800" dirty="0"/>
          </a:p>
          <a:p>
            <a:pPr>
              <a:lnSpc>
                <a:spcPct val="150000"/>
              </a:lnSpc>
            </a:pPr>
            <a:r>
              <a:rPr lang="en-US" sz="4800" dirty="0" smtClean="0"/>
              <a:t>D) yarn </a:t>
            </a:r>
            <a:r>
              <a:rPr lang="en-US" sz="4800" dirty="0"/>
              <a:t>copy</a:t>
            </a:r>
            <a:endParaRPr lang="en-IN" sz="4800" dirty="0"/>
          </a:p>
        </p:txBody>
      </p:sp>
    </p:spTree>
    <p:extLst>
      <p:ext uri="{BB962C8B-B14F-4D97-AF65-F5344CB8AC3E}">
        <p14:creationId xmlns:p14="http://schemas.microsoft.com/office/powerpoint/2010/main" val="3424849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1498</TotalTime>
  <Words>1083</Words>
  <Application>Microsoft Office PowerPoint</Application>
  <PresentationFormat>Custom</PresentationFormat>
  <Paragraphs>238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6" baseType="lpstr">
      <vt:lpstr>Calibri</vt:lpstr>
      <vt:lpstr>var( --font-family-body-lesson-markdown</vt:lpstr>
      <vt:lpstr>Courier New</vt:lpstr>
      <vt:lpstr>Arial Unicode MS</vt:lpstr>
      <vt:lpstr>Barlow Condensed Bold</vt:lpstr>
      <vt:lpstr>Arial</vt:lpstr>
      <vt:lpstr>Open Sans Bold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Bibhuranjan Mohanty</dc:creator>
  <cp:lastModifiedBy>Bibhuranjan Mohanty</cp:lastModifiedBy>
  <cp:revision>20</cp:revision>
  <dcterms:created xsi:type="dcterms:W3CDTF">2006-08-16T00:00:00Z</dcterms:created>
  <dcterms:modified xsi:type="dcterms:W3CDTF">2024-11-08T06:14:06Z</dcterms:modified>
  <dc:identifier>DAGVxd3jlIM</dc:identifier>
</cp:coreProperties>
</file>