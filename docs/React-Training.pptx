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6" r:id="rId2"/>
    <p:sldId id="302" r:id="rId3"/>
    <p:sldId id="256" r:id="rId4"/>
    <p:sldId id="267" r:id="rId5"/>
    <p:sldId id="286" r:id="rId6"/>
    <p:sldId id="290" r:id="rId7"/>
    <p:sldId id="291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270" r:id="rId18"/>
    <p:sldId id="271" r:id="rId19"/>
    <p:sldId id="319" r:id="rId20"/>
    <p:sldId id="318" r:id="rId21"/>
    <p:sldId id="317" r:id="rId22"/>
    <p:sldId id="272" r:id="rId23"/>
    <p:sldId id="316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285" r:id="rId34"/>
    <p:sldId id="320" r:id="rId35"/>
  </p:sldIdLst>
  <p:sldSz cx="18288000" cy="10287000"/>
  <p:notesSz cx="6858000" cy="9144000"/>
  <p:embeddedFontLst>
    <p:embeddedFont>
      <p:font typeface="Open Sans Bold" charset="0"/>
      <p:regular r:id="rId36"/>
    </p:embeddedFont>
    <p:embeddedFont>
      <p:font typeface="Arial Unicode MS" pitchFamily="34" charset="-128"/>
      <p:regular r:id="rId37"/>
    </p:embeddedFont>
    <p:embeddedFont>
      <p:font typeface="Barlow Condensed Bold" charset="0"/>
      <p:regular r:id="rId38"/>
    </p:embeddedFont>
    <p:embeddedFont>
      <p:font typeface="Calibri" pitchFamily="34" charset="0"/>
      <p:regular r:id="rId39"/>
      <p:bold r:id="rId40"/>
      <p:italic r:id="rId41"/>
      <p:boldItalic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-696" y="-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ddit.com/r/reactjs/?rdt=62598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stackoverflow.com/questions/tagged/reactj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facebook/react" TargetMode="External"/><Relationship Id="rId5" Type="http://schemas.openxmlformats.org/officeDocument/2006/relationships/hyperlink" Target="https://react.dev/" TargetMode="External"/><Relationship Id="rId10" Type="http://schemas.openxmlformats.org/officeDocument/2006/relationships/hyperlink" Target="https://reactsummit.com/" TargetMode="External"/><Relationship Id="rId4" Type="http://schemas.openxmlformats.org/officeDocument/2006/relationships/image" Target="../media/image9.png"/><Relationship Id="rId9" Type="http://schemas.openxmlformats.org/officeDocument/2006/relationships/hyperlink" Target="https://www.reactiflux.com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code.visualstudio.com/" TargetMode="External"/><Relationship Id="rId13" Type="http://schemas.openxmlformats.org/officeDocument/2006/relationships/image" Target="../media/image19.png"/><Relationship Id="rId3" Type="http://schemas.openxmlformats.org/officeDocument/2006/relationships/hyperlink" Target="https://yarnpkg.com/" TargetMode="External"/><Relationship Id="rId7" Type="http://schemas.openxmlformats.org/officeDocument/2006/relationships/hyperlink" Target="https://prettier.io/" TargetMode="External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hyperlink" Target="https://nodejs.org/en" TargetMode="Externa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slint.org/" TargetMode="External"/><Relationship Id="rId11" Type="http://schemas.openxmlformats.org/officeDocument/2006/relationships/image" Target="../media/image17.png"/><Relationship Id="rId5" Type="http://schemas.openxmlformats.org/officeDocument/2006/relationships/hyperlink" Target="https://webpack.js.org/" TargetMode="External"/><Relationship Id="rId15" Type="http://schemas.openxmlformats.org/officeDocument/2006/relationships/image" Target="../media/image21.png"/><Relationship Id="rId10" Type="http://schemas.openxmlformats.org/officeDocument/2006/relationships/image" Target="../media/image2.png"/><Relationship Id="rId4" Type="http://schemas.openxmlformats.org/officeDocument/2006/relationships/hyperlink" Target="https://babeljs.io/" TargetMode="External"/><Relationship Id="rId9" Type="http://schemas.openxmlformats.org/officeDocument/2006/relationships/image" Target="../media/image1.png"/><Relationship Id="rId1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e-react-app.dev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vite.dev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54600" y="811530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934200" y="1576065"/>
            <a:ext cx="6021292" cy="2461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461"/>
              </a:lnSpc>
              <a:spcBef>
                <a:spcPct val="0"/>
              </a:spcBef>
            </a:pPr>
            <a:r>
              <a:rPr lang="en-US" sz="15329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React</a:t>
            </a:r>
            <a:endParaRPr lang="en-US" sz="15329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pic>
        <p:nvPicPr>
          <p:cNvPr id="1030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762757"/>
            <a:ext cx="41148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19" name="TextBox 20"/>
          <p:cNvSpPr txBox="1"/>
          <p:nvPr/>
        </p:nvSpPr>
        <p:spPr>
          <a:xfrm>
            <a:off x="7357317" y="3633465"/>
            <a:ext cx="6021292" cy="2421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461"/>
              </a:lnSpc>
              <a:spcBef>
                <a:spcPct val="0"/>
              </a:spcBef>
            </a:pPr>
            <a:r>
              <a:rPr lang="en-US" sz="13800" dirty="0" smtClean="0">
                <a:solidFill>
                  <a:srgbClr val="00206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Training</a:t>
            </a:r>
            <a:endParaRPr lang="en-US" sz="13800" dirty="0">
              <a:solidFill>
                <a:srgbClr val="002060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59089" y="6242090"/>
            <a:ext cx="6646068" cy="3016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dirty="0" smtClean="0">
                <a:solidFill>
                  <a:srgbClr val="00206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 Presented By 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sz="4000" dirty="0">
                <a:solidFill>
                  <a:srgbClr val="FFC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</a:t>
            </a:r>
            <a:r>
              <a:rPr lang="en-US" sz="4000" dirty="0" smtClean="0">
                <a:solidFill>
                  <a:srgbClr val="FFC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</a:t>
            </a:r>
            <a:r>
              <a:rPr lang="en-US" sz="3200" b="1" dirty="0" smtClean="0">
                <a:solidFill>
                  <a:srgbClr val="FFC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Barlow Condensed Bold"/>
              </a:rPr>
              <a:t>Bibhuranjan Mohanty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sz="3200" b="1" dirty="0" smtClean="0">
                <a:solidFill>
                  <a:srgbClr val="FFC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Barlow Condensed Bold"/>
              </a:rPr>
              <a:t>  Technical Anchor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sz="3200" b="1" dirty="0" smtClean="0">
                <a:solidFill>
                  <a:srgbClr val="FFC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Barlow Condensed Bold"/>
              </a:rPr>
              <a:t>  L&amp;K Department</a:t>
            </a:r>
            <a:endParaRPr lang="en-US" sz="3200" b="1" dirty="0">
              <a:solidFill>
                <a:srgbClr val="FFC000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  <a:sym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3100121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6553200" y="4305300"/>
            <a:ext cx="412551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SESSION-01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206064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4282" y="1940639"/>
            <a:ext cx="9005556" cy="6802758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3" y="894584"/>
            <a:ext cx="4125510" cy="92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Objectives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94221" y="3857897"/>
            <a:ext cx="3499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 smtClean="0">
                <a:solidFill>
                  <a:srgbClr val="002060"/>
                </a:solidFill>
              </a:rPr>
              <a:t>Features of React</a:t>
            </a:r>
            <a:endParaRPr lang="en-IN" sz="3600" b="1" dirty="0">
              <a:solidFill>
                <a:srgbClr val="00206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344994" y="2943497"/>
            <a:ext cx="42607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 smtClean="0">
                <a:solidFill>
                  <a:srgbClr val="002060"/>
                </a:solidFill>
              </a:rPr>
              <a:t>Introduction to React</a:t>
            </a:r>
            <a:endParaRPr lang="en-IN" sz="3600" b="1" dirty="0">
              <a:solidFill>
                <a:srgbClr val="00206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294221" y="4775129"/>
            <a:ext cx="82137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/>
              <a:t>Set Up a React Development Environment</a:t>
            </a:r>
            <a:endParaRPr lang="en-IN" sz="3600" b="1" dirty="0">
              <a:solidFill>
                <a:srgbClr val="00206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62200" y="5753099"/>
            <a:ext cx="63238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/>
              <a:t>Build and Run a Basic React App</a:t>
            </a:r>
            <a:endParaRPr lang="en-IN" sz="3600" b="1" dirty="0">
              <a:solidFill>
                <a:srgbClr val="00206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743" y="3924300"/>
            <a:ext cx="780460" cy="51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452" y="3009900"/>
            <a:ext cx="780460" cy="51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932" y="4907933"/>
            <a:ext cx="780460" cy="51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881252"/>
            <a:ext cx="780460" cy="51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5257800" y="4152900"/>
            <a:ext cx="83058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Introduction to React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3781618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1177019" y="800100"/>
            <a:ext cx="491275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6000" b="1" dirty="0">
                <a:solidFill>
                  <a:srgbClr val="002060"/>
                </a:solidFill>
              </a:rPr>
              <a:t>What is React?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38030" y="1815763"/>
            <a:ext cx="132006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At this point, let’s cite the React documentation that has summarized it nicely:</a:t>
            </a:r>
            <a:endParaRPr lang="en-IN" sz="3200" dirty="0"/>
          </a:p>
        </p:txBody>
      </p:sp>
      <p:sp>
        <p:nvSpPr>
          <p:cNvPr id="11" name="Flowchart: Alternate Process 10"/>
          <p:cNvSpPr/>
          <p:nvPr/>
        </p:nvSpPr>
        <p:spPr>
          <a:xfrm>
            <a:off x="1494503" y="2933700"/>
            <a:ext cx="14935200" cy="2860358"/>
          </a:xfrm>
          <a:prstGeom prst="flowChartAlternateProcess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endParaRPr lang="en-US" sz="5400" dirty="0" smtClean="0">
              <a:solidFill>
                <a:srgbClr val="374151"/>
              </a:solidFill>
              <a:latin typeface="Helvetica Neue"/>
            </a:endParaRPr>
          </a:p>
          <a:p>
            <a:r>
              <a:rPr lang="en-US" sz="5400" dirty="0" smtClean="0">
                <a:solidFill>
                  <a:srgbClr val="374151"/>
                </a:solidFill>
                <a:latin typeface="Helvetica Neue"/>
              </a:rPr>
              <a:t>“React is </a:t>
            </a:r>
            <a:r>
              <a:rPr lang="en-US" sz="5400" dirty="0">
                <a:solidFill>
                  <a:srgbClr val="374151"/>
                </a:solidFill>
                <a:latin typeface="Helvetica Neue"/>
              </a:rPr>
              <a:t>a library for building user interfaces</a:t>
            </a:r>
            <a:r>
              <a:rPr lang="en-US" sz="5400" dirty="0" smtClean="0">
                <a:solidFill>
                  <a:srgbClr val="374151"/>
                </a:solidFill>
                <a:latin typeface="Helvetica Neue"/>
              </a:rPr>
              <a:t>.”</a:t>
            </a:r>
          </a:p>
          <a:p>
            <a:endParaRPr lang="en-IN" sz="5400" dirty="0"/>
          </a:p>
        </p:txBody>
      </p:sp>
      <p:sp>
        <p:nvSpPr>
          <p:cNvPr id="12" name="Rectangle 11"/>
          <p:cNvSpPr/>
          <p:nvPr/>
        </p:nvSpPr>
        <p:spPr>
          <a:xfrm>
            <a:off x="2414456" y="6263219"/>
            <a:ext cx="139446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/>
              <a:t>React is just a library that makes it easy to develop user interfaces. </a:t>
            </a:r>
            <a:endParaRPr lang="en-US" sz="3200" dirty="0" smtClean="0"/>
          </a:p>
          <a:p>
            <a:pPr algn="just"/>
            <a:endParaRPr lang="en-US" sz="3200" dirty="0" smtClean="0"/>
          </a:p>
          <a:p>
            <a:pPr algn="just"/>
            <a:r>
              <a:rPr lang="en-US" sz="3200" dirty="0" smtClean="0"/>
              <a:t>There </a:t>
            </a:r>
            <a:r>
              <a:rPr lang="en-US" sz="3200" dirty="0"/>
              <a:t>are no </a:t>
            </a:r>
            <a:r>
              <a:rPr lang="en-US" sz="3200" dirty="0" smtClean="0"/>
              <a:t>services </a:t>
            </a:r>
            <a:r>
              <a:rPr lang="en-US" sz="3200" dirty="0"/>
              <a:t>or methods to make API </a:t>
            </a:r>
            <a:r>
              <a:rPr lang="en-US" sz="3200" dirty="0" smtClean="0"/>
              <a:t>calls ,</a:t>
            </a:r>
            <a:r>
              <a:rPr lang="en-US" sz="3200" dirty="0"/>
              <a:t>built-in models, or ORM</a:t>
            </a:r>
            <a:r>
              <a:rPr lang="en-US" sz="3200" dirty="0" smtClean="0"/>
              <a:t>.</a:t>
            </a:r>
          </a:p>
          <a:p>
            <a:endParaRPr lang="en-US" sz="3200" dirty="0"/>
          </a:p>
          <a:p>
            <a:r>
              <a:rPr lang="en-US" sz="3200" dirty="0"/>
              <a:t>React is only concerned with user interfaces.</a:t>
            </a:r>
            <a:endParaRPr lang="en-IN" sz="3200" dirty="0"/>
          </a:p>
        </p:txBody>
      </p:sp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114" y="6404682"/>
            <a:ext cx="780460" cy="51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114" y="7343703"/>
            <a:ext cx="780460" cy="51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114" y="8281676"/>
            <a:ext cx="780460" cy="51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820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2" y="751617"/>
            <a:ext cx="14661948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54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When Should I Use React and When Is It Best to Avoid It?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15427" t="6216" r="9246"/>
          <a:stretch/>
        </p:blipFill>
        <p:spPr>
          <a:xfrm>
            <a:off x="376027" y="3415419"/>
            <a:ext cx="4648200" cy="430776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148443" y="1841837"/>
            <a:ext cx="485485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 b="1" dirty="0">
                <a:solidFill>
                  <a:srgbClr val="002060"/>
                </a:solidFill>
              </a:rPr>
              <a:t>When to Use React</a:t>
            </a:r>
            <a:r>
              <a:rPr lang="en-IN" sz="6000" b="1" dirty="0">
                <a:solidFill>
                  <a:srgbClr val="002060"/>
                </a:solidFill>
              </a:rPr>
              <a:t>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70566" y="5905500"/>
            <a:ext cx="732623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002060"/>
                </a:solidFill>
              </a:rPr>
              <a:t>When to Avoid </a:t>
            </a:r>
            <a:r>
              <a:rPr lang="en-IN" sz="4400" b="1" dirty="0" smtClean="0">
                <a:solidFill>
                  <a:srgbClr val="002060"/>
                </a:solidFill>
              </a:rPr>
              <a:t>React</a:t>
            </a:r>
            <a:r>
              <a:rPr lang="en-IN" sz="6000" b="1" dirty="0" smtClean="0">
                <a:solidFill>
                  <a:srgbClr val="002060"/>
                </a:solidFill>
              </a:rPr>
              <a:t>:</a:t>
            </a:r>
            <a:endParaRPr lang="en-IN" sz="6000" b="1" dirty="0">
              <a:solidFill>
                <a:srgbClr val="002060"/>
              </a:solidFill>
            </a:endParaRPr>
          </a:p>
        </p:txBody>
      </p:sp>
      <p:sp>
        <p:nvSpPr>
          <p:cNvPr id="10" name="Flowchart: Alternate Process 9"/>
          <p:cNvSpPr/>
          <p:nvPr/>
        </p:nvSpPr>
        <p:spPr>
          <a:xfrm>
            <a:off x="5801432" y="3428750"/>
            <a:ext cx="5033712" cy="510778"/>
          </a:xfrm>
          <a:prstGeom prst="flowChartAlternateProcess">
            <a:avLst/>
          </a:prstGeom>
          <a:solidFill>
            <a:schemeClr val="accent5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r>
              <a:rPr lang="en-IN" sz="2400" b="1" dirty="0"/>
              <a:t>Building Interactive User </a:t>
            </a:r>
            <a:r>
              <a:rPr lang="en-IN" sz="2400" b="1" dirty="0" smtClean="0"/>
              <a:t>Interfaces</a:t>
            </a:r>
            <a:endParaRPr lang="en-IN" sz="2400" dirty="0"/>
          </a:p>
        </p:txBody>
      </p:sp>
      <p:sp>
        <p:nvSpPr>
          <p:cNvPr id="20" name="Flowchart: Alternate Process 19"/>
          <p:cNvSpPr/>
          <p:nvPr/>
        </p:nvSpPr>
        <p:spPr>
          <a:xfrm>
            <a:off x="11963400" y="3415419"/>
            <a:ext cx="5410200" cy="510778"/>
          </a:xfrm>
          <a:prstGeom prst="flowChartAlternateProcess">
            <a:avLst/>
          </a:prstGeom>
          <a:solidFill>
            <a:schemeClr val="accent5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r>
              <a:rPr lang="en-IN" sz="2400" b="1" dirty="0"/>
              <a:t>Component-Based Development</a:t>
            </a:r>
            <a:endParaRPr lang="en-IN" sz="2400" dirty="0"/>
          </a:p>
        </p:txBody>
      </p:sp>
      <p:sp>
        <p:nvSpPr>
          <p:cNvPr id="21" name="Flowchart: Alternate Process 20"/>
          <p:cNvSpPr/>
          <p:nvPr/>
        </p:nvSpPr>
        <p:spPr>
          <a:xfrm>
            <a:off x="5747065" y="4305300"/>
            <a:ext cx="5142446" cy="510778"/>
          </a:xfrm>
          <a:prstGeom prst="flowChartAlternateProcess">
            <a:avLst/>
          </a:prstGeom>
          <a:solidFill>
            <a:schemeClr val="accent5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none">
            <a:spAutoFit/>
          </a:bodyPr>
          <a:lstStyle/>
          <a:p>
            <a:r>
              <a:rPr lang="en-IN" sz="2400" b="1" dirty="0"/>
              <a:t>Handling Complex State </a:t>
            </a:r>
            <a:r>
              <a:rPr lang="en-IN" sz="2400" b="1" dirty="0" smtClean="0"/>
              <a:t>Management</a:t>
            </a:r>
            <a:endParaRPr lang="en-IN" sz="2400" dirty="0"/>
          </a:p>
        </p:txBody>
      </p:sp>
      <p:sp>
        <p:nvSpPr>
          <p:cNvPr id="22" name="Flowchart: Alternate Process 21"/>
          <p:cNvSpPr/>
          <p:nvPr/>
        </p:nvSpPr>
        <p:spPr>
          <a:xfrm>
            <a:off x="11901280" y="4231018"/>
            <a:ext cx="5472319" cy="510778"/>
          </a:xfrm>
          <a:prstGeom prst="flowChartAlternateProcess">
            <a:avLst/>
          </a:prstGeom>
          <a:solidFill>
            <a:schemeClr val="accent5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r>
              <a:rPr lang="en-IN" sz="2400" b="1" dirty="0"/>
              <a:t>Large-Scale Applications</a:t>
            </a:r>
            <a:endParaRPr lang="en-IN" sz="2400" dirty="0"/>
          </a:p>
        </p:txBody>
      </p:sp>
      <p:sp>
        <p:nvSpPr>
          <p:cNvPr id="26" name="Flowchart: Alternate Process 25"/>
          <p:cNvSpPr/>
          <p:nvPr/>
        </p:nvSpPr>
        <p:spPr>
          <a:xfrm>
            <a:off x="5699638" y="5151310"/>
            <a:ext cx="5189873" cy="510778"/>
          </a:xfrm>
          <a:prstGeom prst="flowChartAlternateProcess">
            <a:avLst/>
          </a:prstGeom>
          <a:solidFill>
            <a:schemeClr val="accent5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r>
              <a:rPr lang="en-IN" sz="2400" b="1" dirty="0"/>
              <a:t>Cross-Platform Development</a:t>
            </a:r>
            <a:endParaRPr lang="en-IN" sz="2400" dirty="0"/>
          </a:p>
        </p:txBody>
      </p:sp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503031"/>
            <a:ext cx="459713" cy="362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566" y="4379581"/>
            <a:ext cx="459713" cy="362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1637" y="3561024"/>
            <a:ext cx="459713" cy="362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1638" y="4357348"/>
            <a:ext cx="459713" cy="362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717" y="5299873"/>
            <a:ext cx="459713" cy="362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" name="Flowchart: Alternate Process 32"/>
          <p:cNvSpPr/>
          <p:nvPr/>
        </p:nvSpPr>
        <p:spPr>
          <a:xfrm>
            <a:off x="5750535" y="7099529"/>
            <a:ext cx="5135505" cy="510778"/>
          </a:xfrm>
          <a:prstGeom prst="flowChartAlternateProcess">
            <a:avLst/>
          </a:prstGeom>
          <a:solidFill>
            <a:schemeClr val="accent6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r>
              <a:rPr lang="en-IN" sz="2400" b="1" dirty="0"/>
              <a:t>Simple Static Websites</a:t>
            </a:r>
          </a:p>
        </p:txBody>
      </p:sp>
      <p:pic>
        <p:nvPicPr>
          <p:cNvPr id="34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9925" y="7165264"/>
            <a:ext cx="459713" cy="362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" name="Flowchart: Alternate Process 34"/>
          <p:cNvSpPr/>
          <p:nvPr/>
        </p:nvSpPr>
        <p:spPr>
          <a:xfrm>
            <a:off x="11711351" y="7120922"/>
            <a:ext cx="5135505" cy="510778"/>
          </a:xfrm>
          <a:prstGeom prst="flowChartAlternateProcess">
            <a:avLst/>
          </a:prstGeom>
          <a:solidFill>
            <a:schemeClr val="accent6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r>
              <a:rPr lang="en-IN" sz="2400" b="1" dirty="0"/>
              <a:t>SEO-Heavy Applications</a:t>
            </a:r>
          </a:p>
        </p:txBody>
      </p:sp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0741" y="7186657"/>
            <a:ext cx="459713" cy="362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" name="Flowchart: Alternate Process 36"/>
          <p:cNvSpPr/>
          <p:nvPr/>
        </p:nvSpPr>
        <p:spPr>
          <a:xfrm>
            <a:off x="5801432" y="8142263"/>
            <a:ext cx="5135505" cy="510778"/>
          </a:xfrm>
          <a:prstGeom prst="flowChartAlternateProcess">
            <a:avLst/>
          </a:prstGeom>
          <a:solidFill>
            <a:schemeClr val="accent6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r>
              <a:rPr lang="en-IN" sz="2400" b="1" dirty="0"/>
              <a:t>Limited JavaScript Expertise</a:t>
            </a:r>
          </a:p>
        </p:txBody>
      </p:sp>
      <p:pic>
        <p:nvPicPr>
          <p:cNvPr id="38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0822" y="8207998"/>
            <a:ext cx="459713" cy="362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9" name="Flowchart: Alternate Process 38"/>
          <p:cNvSpPr/>
          <p:nvPr/>
        </p:nvSpPr>
        <p:spPr>
          <a:xfrm>
            <a:off x="11742583" y="8144727"/>
            <a:ext cx="5135505" cy="510778"/>
          </a:xfrm>
          <a:prstGeom prst="flowChartAlternateProcess">
            <a:avLst/>
          </a:prstGeom>
          <a:solidFill>
            <a:schemeClr val="accent6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r>
              <a:rPr lang="en-IN" sz="2400" b="1" dirty="0" smtClean="0"/>
              <a:t>Simple Static Websites</a:t>
            </a:r>
            <a:endParaRPr lang="en-IN" sz="2400" b="1" dirty="0"/>
          </a:p>
        </p:txBody>
      </p:sp>
      <p:pic>
        <p:nvPicPr>
          <p:cNvPr id="40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1973" y="8210462"/>
            <a:ext cx="459713" cy="362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" name="Flowchart: Alternate Process 40"/>
          <p:cNvSpPr/>
          <p:nvPr/>
        </p:nvSpPr>
        <p:spPr>
          <a:xfrm>
            <a:off x="5773381" y="9113639"/>
            <a:ext cx="8095019" cy="510778"/>
          </a:xfrm>
          <a:prstGeom prst="flowChartAlternateProcess">
            <a:avLst/>
          </a:prstGeom>
          <a:solidFill>
            <a:schemeClr val="accent6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r>
              <a:rPr lang="en-IN" sz="2400" b="1" dirty="0"/>
              <a:t>Performance-Sensitive Applications with Minimal JavaScript</a:t>
            </a:r>
          </a:p>
        </p:txBody>
      </p:sp>
      <p:pic>
        <p:nvPicPr>
          <p:cNvPr id="42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2771" y="9179374"/>
            <a:ext cx="459713" cy="362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5699638" y="6057900"/>
            <a:ext cx="11559662" cy="3810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45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1662" y="6123279"/>
            <a:ext cx="606963" cy="62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9917" y="2076056"/>
            <a:ext cx="693742" cy="674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0055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" grpId="0"/>
      <p:bldP spid="10" grpId="0" animBg="1"/>
      <p:bldP spid="20" grpId="0" animBg="1"/>
      <p:bldP spid="21" grpId="0" animBg="1"/>
      <p:bldP spid="22" grpId="0" animBg="1"/>
      <p:bldP spid="26" grpId="0" animBg="1"/>
      <p:bldP spid="33" grpId="0" animBg="1"/>
      <p:bldP spid="35" grpId="0" animBg="1"/>
      <p:bldP spid="37" grpId="0" animBg="1"/>
      <p:bldP spid="39" grpId="0" animBg="1"/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101674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066800" y="495858"/>
            <a:ext cx="719434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Key Features of React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086464" y="1895168"/>
            <a:ext cx="6477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ound Diagonal Corner Rectangle 25"/>
          <p:cNvSpPr/>
          <p:nvPr/>
        </p:nvSpPr>
        <p:spPr>
          <a:xfrm>
            <a:off x="2027903" y="7821971"/>
            <a:ext cx="6651523" cy="990600"/>
          </a:xfrm>
          <a:prstGeom prst="round2Diag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4400" b="1" dirty="0"/>
              <a:t>Unidirectional Data Flow </a:t>
            </a:r>
          </a:p>
        </p:txBody>
      </p:sp>
      <p:sp>
        <p:nvSpPr>
          <p:cNvPr id="27" name="Round Diagonal Corner Rectangle 26"/>
          <p:cNvSpPr/>
          <p:nvPr/>
        </p:nvSpPr>
        <p:spPr>
          <a:xfrm>
            <a:off x="10160194" y="2766552"/>
            <a:ext cx="6299006" cy="990600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4400" b="1" dirty="0"/>
              <a:t>JSX - JavaScript XML</a:t>
            </a:r>
          </a:p>
        </p:txBody>
      </p:sp>
      <p:sp>
        <p:nvSpPr>
          <p:cNvPr id="28" name="Round Diagonal Corner Rectangle 27"/>
          <p:cNvSpPr/>
          <p:nvPr/>
        </p:nvSpPr>
        <p:spPr>
          <a:xfrm>
            <a:off x="10135670" y="4478593"/>
            <a:ext cx="6323530" cy="990600"/>
          </a:xfrm>
          <a:prstGeom prst="round2Diag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4400" b="1" dirty="0"/>
              <a:t>Rich Ecosystem</a:t>
            </a:r>
          </a:p>
        </p:txBody>
      </p:sp>
      <p:sp>
        <p:nvSpPr>
          <p:cNvPr id="29" name="Round Diagonal Corner Rectangle 28"/>
          <p:cNvSpPr/>
          <p:nvPr/>
        </p:nvSpPr>
        <p:spPr>
          <a:xfrm>
            <a:off x="10160194" y="6027174"/>
            <a:ext cx="6299006" cy="990600"/>
          </a:xfrm>
          <a:prstGeom prst="round2Diag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4400" b="1" dirty="0"/>
              <a:t>Fast Learning Curve</a:t>
            </a:r>
          </a:p>
        </p:txBody>
      </p:sp>
      <p:sp>
        <p:nvSpPr>
          <p:cNvPr id="31" name="Round Diagonal Corner Rectangle 30"/>
          <p:cNvSpPr/>
          <p:nvPr/>
        </p:nvSpPr>
        <p:spPr>
          <a:xfrm>
            <a:off x="10147932" y="7721230"/>
            <a:ext cx="6299006" cy="990600"/>
          </a:xfrm>
          <a:prstGeom prst="round2Diag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4400" b="1" dirty="0"/>
              <a:t>Community Support</a:t>
            </a:r>
          </a:p>
        </p:txBody>
      </p:sp>
      <p:sp>
        <p:nvSpPr>
          <p:cNvPr id="32" name="Round Diagonal Corner Rectangle 31"/>
          <p:cNvSpPr/>
          <p:nvPr/>
        </p:nvSpPr>
        <p:spPr>
          <a:xfrm>
            <a:off x="2057400" y="2766552"/>
            <a:ext cx="6622026" cy="990600"/>
          </a:xfrm>
          <a:prstGeom prst="round2Diag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Component-Based Architecture</a:t>
            </a:r>
          </a:p>
        </p:txBody>
      </p:sp>
      <p:sp>
        <p:nvSpPr>
          <p:cNvPr id="33" name="Round Diagonal Corner Rectangle 32"/>
          <p:cNvSpPr/>
          <p:nvPr/>
        </p:nvSpPr>
        <p:spPr>
          <a:xfrm>
            <a:off x="2003322" y="4540046"/>
            <a:ext cx="6676104" cy="990600"/>
          </a:xfrm>
          <a:prstGeom prst="round2Diag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4400" b="1" dirty="0"/>
              <a:t>Virtual DOM</a:t>
            </a:r>
          </a:p>
        </p:txBody>
      </p:sp>
      <p:sp>
        <p:nvSpPr>
          <p:cNvPr id="34" name="Round Diagonal Corner Rectangle 33"/>
          <p:cNvSpPr/>
          <p:nvPr/>
        </p:nvSpPr>
        <p:spPr>
          <a:xfrm>
            <a:off x="2000864" y="6169743"/>
            <a:ext cx="6678562" cy="990600"/>
          </a:xfrm>
          <a:prstGeom prst="round2Diag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4400" b="1" dirty="0"/>
              <a:t>Declarative UI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464" y="3014275"/>
            <a:ext cx="629264" cy="49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464" y="4787519"/>
            <a:ext cx="629264" cy="49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038" y="6417216"/>
            <a:ext cx="629264" cy="49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038" y="8149825"/>
            <a:ext cx="629264" cy="49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8915" y="3002234"/>
            <a:ext cx="629264" cy="49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2993" y="4726067"/>
            <a:ext cx="629264" cy="49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2993" y="6417215"/>
            <a:ext cx="629264" cy="49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2993" y="8069444"/>
            <a:ext cx="629264" cy="49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6186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101674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066800" y="495858"/>
            <a:ext cx="719434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Key Features of React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086464" y="1895168"/>
            <a:ext cx="6477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ound Diagonal Corner Rectangle 31"/>
          <p:cNvSpPr/>
          <p:nvPr/>
        </p:nvSpPr>
        <p:spPr>
          <a:xfrm>
            <a:off x="1612082" y="2610026"/>
            <a:ext cx="6622026" cy="990600"/>
          </a:xfrm>
          <a:prstGeom prst="round2Diag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Component-Based Architecture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220" y="2857500"/>
            <a:ext cx="629264" cy="49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703853"/>
            <a:ext cx="16465402" cy="459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4435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101674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066800" y="495858"/>
            <a:ext cx="719434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Key Features of React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086464" y="1895168"/>
            <a:ext cx="6477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ound Diagonal Corner Rectangle 31"/>
          <p:cNvSpPr/>
          <p:nvPr/>
        </p:nvSpPr>
        <p:spPr>
          <a:xfrm>
            <a:off x="1612082" y="2610026"/>
            <a:ext cx="6622026" cy="990600"/>
          </a:xfrm>
          <a:prstGeom prst="round2Diag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JSX - JavaScript XML</a:t>
            </a:r>
            <a:endParaRPr lang="en-IN" sz="36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220" y="2857500"/>
            <a:ext cx="629264" cy="49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903740"/>
            <a:ext cx="5334000" cy="3179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7224252" y="3749578"/>
            <a:ext cx="9687640" cy="23083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3600" dirty="0"/>
              <a:t>&lt;div id="app"&gt; </a:t>
            </a:r>
          </a:p>
          <a:p>
            <a:r>
              <a:rPr lang="en-US" sz="3600" dirty="0"/>
              <a:t>&lt;p&gt;A paragraph in JSX&lt;/p&gt; </a:t>
            </a:r>
          </a:p>
          <a:p>
            <a:r>
              <a:rPr lang="en-US" sz="3600" dirty="0"/>
              <a:t>&lt;p&gt;Another paragraph&lt;/p&gt; </a:t>
            </a:r>
          </a:p>
          <a:p>
            <a:r>
              <a:rPr lang="en-US" sz="3600" dirty="0"/>
              <a:t>&lt;/div&gt;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7239000" y="7145774"/>
            <a:ext cx="9672892" cy="25545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IN" sz="3200" dirty="0"/>
              <a:t>React.createElement( </a:t>
            </a:r>
          </a:p>
          <a:p>
            <a:r>
              <a:rPr lang="en-IN" sz="3200" dirty="0"/>
              <a:t>'div', </a:t>
            </a:r>
            <a:r>
              <a:rPr lang="en-IN" sz="3200" dirty="0" smtClean="0"/>
              <a:t>{ </a:t>
            </a:r>
            <a:r>
              <a:rPr lang="en-IN" sz="3200" dirty="0"/>
              <a:t>id: 'app' }, </a:t>
            </a:r>
          </a:p>
          <a:p>
            <a:r>
              <a:rPr lang="en-IN" sz="3200" dirty="0"/>
              <a:t>React.createElement('p', null, 'A paragraph in JSX'), </a:t>
            </a:r>
          </a:p>
          <a:p>
            <a:r>
              <a:rPr lang="en-IN" sz="3200" dirty="0"/>
              <a:t>React.createElement('p', null, 'Another paragraph') </a:t>
            </a:r>
          </a:p>
          <a:p>
            <a:r>
              <a:rPr lang="en-IN" sz="3200" dirty="0" smtClean="0"/>
              <a:t>);</a:t>
            </a:r>
          </a:p>
        </p:txBody>
      </p:sp>
      <p:sp>
        <p:nvSpPr>
          <p:cNvPr id="11" name="Right Arrow 10"/>
          <p:cNvSpPr/>
          <p:nvPr/>
        </p:nvSpPr>
        <p:spPr>
          <a:xfrm rot="5400000">
            <a:off x="11331387" y="5962771"/>
            <a:ext cx="727142" cy="1291916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2496800" y="6245158"/>
            <a:ext cx="28955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Babel Compiler</a:t>
            </a:r>
          </a:p>
        </p:txBody>
      </p:sp>
    </p:spTree>
    <p:extLst>
      <p:ext uri="{BB962C8B-B14F-4D97-AF65-F5344CB8AC3E}">
        <p14:creationId xmlns:p14="http://schemas.microsoft.com/office/powerpoint/2010/main" val="471137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644012"/>
            <a:ext cx="6858000" cy="9376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101674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066799" y="186035"/>
            <a:ext cx="719434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Key Features of React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03670" y="1333500"/>
            <a:ext cx="6477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ound Diagonal Corner Rectangle 31"/>
          <p:cNvSpPr/>
          <p:nvPr/>
        </p:nvSpPr>
        <p:spPr>
          <a:xfrm>
            <a:off x="1661243" y="1726351"/>
            <a:ext cx="6622026" cy="990600"/>
          </a:xfrm>
          <a:prstGeom prst="round2Diag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Virtual DOM</a:t>
            </a:r>
            <a:endParaRPr lang="en-IN" sz="36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80" y="1973825"/>
            <a:ext cx="629264" cy="49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103670" y="2705100"/>
            <a:ext cx="8878530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b="1" dirty="0" smtClean="0">
                <a:solidFill>
                  <a:srgbClr val="002060"/>
                </a:solidFill>
              </a:rPr>
              <a:t> </a:t>
            </a:r>
            <a:r>
              <a:rPr lang="en-US" sz="2800" b="1" dirty="0" smtClean="0">
                <a:solidFill>
                  <a:srgbClr val="002060"/>
                </a:solidFill>
              </a:rPr>
              <a:t>The </a:t>
            </a:r>
            <a:r>
              <a:rPr lang="en-US" sz="2800" b="1" dirty="0">
                <a:solidFill>
                  <a:srgbClr val="002060"/>
                </a:solidFill>
              </a:rPr>
              <a:t>Virtual DOM is a lightweight copy of the actual DOM (Document Object Model) that React uses to optimize updates and rendering. </a:t>
            </a:r>
            <a:endParaRPr lang="en-US" sz="2800" b="1" dirty="0" smtClean="0">
              <a:solidFill>
                <a:srgbClr val="002060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800" dirty="0" smtClean="0"/>
              <a:t> </a:t>
            </a:r>
            <a:r>
              <a:rPr lang="en-US" sz="2800" b="1" dirty="0" smtClean="0">
                <a:solidFill>
                  <a:srgbClr val="002060"/>
                </a:solidFill>
              </a:rPr>
              <a:t>It </a:t>
            </a:r>
            <a:r>
              <a:rPr lang="en-US" sz="2800" b="1" dirty="0">
                <a:solidFill>
                  <a:srgbClr val="002060"/>
                </a:solidFill>
              </a:rPr>
              <a:t>improves the performance of React applications by reducing direct manipulations of the real DOM, which can be slow.</a:t>
            </a:r>
            <a:endParaRPr lang="en-IN" sz="2800" b="1" dirty="0">
              <a:solidFill>
                <a:srgbClr val="002060"/>
              </a:solidFill>
            </a:endParaRPr>
          </a:p>
          <a:p>
            <a:pPr marL="285750" indent="-285750">
              <a:buFont typeface="Wingdings" pitchFamily="2" charset="2"/>
              <a:buChar char="q"/>
            </a:pPr>
            <a:endParaRPr lang="en-IN" sz="32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754" y="6900690"/>
            <a:ext cx="8382000" cy="287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950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6675160" y="3618924"/>
            <a:ext cx="2898999" cy="77083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101674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066800" y="495858"/>
            <a:ext cx="719434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Key Features of React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086464" y="1627629"/>
            <a:ext cx="6477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ound Diagonal Corner Rectangle 31"/>
          <p:cNvSpPr/>
          <p:nvPr/>
        </p:nvSpPr>
        <p:spPr>
          <a:xfrm>
            <a:off x="1585043" y="2181312"/>
            <a:ext cx="3051891" cy="628827"/>
          </a:xfrm>
          <a:prstGeom prst="round2Diag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Rich Ecosystem</a:t>
            </a:r>
            <a:endParaRPr lang="en-IN" sz="28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68" y="2247900"/>
            <a:ext cx="629264" cy="49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TextBox 26"/>
          <p:cNvSpPr txBox="1"/>
          <p:nvPr/>
        </p:nvSpPr>
        <p:spPr>
          <a:xfrm>
            <a:off x="6702201" y="3742729"/>
            <a:ext cx="2898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React Core Library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62577" y="6904080"/>
            <a:ext cx="2070440" cy="72300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React Developer Tool</a:t>
            </a:r>
            <a:endParaRPr lang="en-IN" b="1" dirty="0"/>
          </a:p>
        </p:txBody>
      </p:sp>
      <p:sp>
        <p:nvSpPr>
          <p:cNvPr id="34" name="Rounded Rectangle 33"/>
          <p:cNvSpPr/>
          <p:nvPr/>
        </p:nvSpPr>
        <p:spPr>
          <a:xfrm>
            <a:off x="472409" y="7770839"/>
            <a:ext cx="2070440" cy="72300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ESLint</a:t>
            </a:r>
            <a:endParaRPr lang="en-IN" b="1" dirty="0"/>
          </a:p>
        </p:txBody>
      </p:sp>
      <p:sp>
        <p:nvSpPr>
          <p:cNvPr id="35" name="Rounded Rectangle 34"/>
          <p:cNvSpPr/>
          <p:nvPr/>
        </p:nvSpPr>
        <p:spPr>
          <a:xfrm>
            <a:off x="482241" y="8661579"/>
            <a:ext cx="2050776" cy="72300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Prettier</a:t>
            </a:r>
            <a:endParaRPr lang="en-IN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3115712" y="6240064"/>
            <a:ext cx="1791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002060"/>
                </a:solidFill>
              </a:rPr>
              <a:t>Build Tools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021063" y="6896099"/>
            <a:ext cx="1981200" cy="652275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Webpack</a:t>
            </a:r>
            <a:endParaRPr lang="en-IN" sz="2800" b="1" dirty="0"/>
          </a:p>
        </p:txBody>
      </p:sp>
      <p:sp>
        <p:nvSpPr>
          <p:cNvPr id="38" name="Rounded Rectangle 37"/>
          <p:cNvSpPr/>
          <p:nvPr/>
        </p:nvSpPr>
        <p:spPr>
          <a:xfrm>
            <a:off x="3047999" y="7771165"/>
            <a:ext cx="1981200" cy="64738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Babel</a:t>
            </a:r>
            <a:endParaRPr lang="en-IN" sz="2800" b="1" dirty="0"/>
          </a:p>
        </p:txBody>
      </p:sp>
      <p:sp>
        <p:nvSpPr>
          <p:cNvPr id="40" name="Rounded Rectangle 39"/>
          <p:cNvSpPr/>
          <p:nvPr/>
        </p:nvSpPr>
        <p:spPr>
          <a:xfrm>
            <a:off x="3021063" y="8676001"/>
            <a:ext cx="1981200" cy="646808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Vite</a:t>
            </a:r>
            <a:endParaRPr lang="en-IN" sz="28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749294" y="6231962"/>
            <a:ext cx="1226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Testing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541749" y="6198374"/>
            <a:ext cx="2218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Data Fetching</a:t>
            </a:r>
            <a:endParaRPr lang="en-IN" dirty="0"/>
          </a:p>
        </p:txBody>
      </p:sp>
      <p:sp>
        <p:nvSpPr>
          <p:cNvPr id="43" name="Rounded Rectangle 42"/>
          <p:cNvSpPr/>
          <p:nvPr/>
        </p:nvSpPr>
        <p:spPr>
          <a:xfrm>
            <a:off x="5410200" y="6916667"/>
            <a:ext cx="1905001" cy="6108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Jest</a:t>
            </a:r>
            <a:endParaRPr lang="en-IN" sz="2400" b="1" dirty="0"/>
          </a:p>
        </p:txBody>
      </p:sp>
      <p:sp>
        <p:nvSpPr>
          <p:cNvPr id="44" name="Rounded Rectangle 43"/>
          <p:cNvSpPr/>
          <p:nvPr/>
        </p:nvSpPr>
        <p:spPr>
          <a:xfrm>
            <a:off x="5417574" y="7782787"/>
            <a:ext cx="1897627" cy="6148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Cypress</a:t>
            </a:r>
            <a:endParaRPr lang="en-IN" sz="2400" b="1" dirty="0"/>
          </a:p>
        </p:txBody>
      </p:sp>
      <p:sp>
        <p:nvSpPr>
          <p:cNvPr id="45" name="Rounded Rectangle 44"/>
          <p:cNvSpPr/>
          <p:nvPr/>
        </p:nvSpPr>
        <p:spPr>
          <a:xfrm>
            <a:off x="5446535" y="8724522"/>
            <a:ext cx="1868666" cy="6600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React Testing Library</a:t>
            </a:r>
            <a:endParaRPr lang="en-IN" b="1" dirty="0"/>
          </a:p>
        </p:txBody>
      </p:sp>
      <p:sp>
        <p:nvSpPr>
          <p:cNvPr id="46" name="Rounded Rectangle 45"/>
          <p:cNvSpPr/>
          <p:nvPr/>
        </p:nvSpPr>
        <p:spPr>
          <a:xfrm>
            <a:off x="7696200" y="6918828"/>
            <a:ext cx="1905000" cy="629546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GraphQL</a:t>
            </a:r>
            <a:endParaRPr lang="en-IN" b="1" dirty="0"/>
          </a:p>
        </p:txBody>
      </p:sp>
      <p:sp>
        <p:nvSpPr>
          <p:cNvPr id="47" name="Rounded Rectangle 46"/>
          <p:cNvSpPr/>
          <p:nvPr/>
        </p:nvSpPr>
        <p:spPr>
          <a:xfrm>
            <a:off x="7718322" y="7806306"/>
            <a:ext cx="1882877" cy="612239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Axios</a:t>
            </a:r>
            <a:endParaRPr lang="en-IN" sz="2400" b="1" dirty="0"/>
          </a:p>
        </p:txBody>
      </p:sp>
      <p:sp>
        <p:nvSpPr>
          <p:cNvPr id="48" name="Rounded Rectangle 47"/>
          <p:cNvSpPr/>
          <p:nvPr/>
        </p:nvSpPr>
        <p:spPr>
          <a:xfrm>
            <a:off x="7696200" y="8724522"/>
            <a:ext cx="1905000" cy="66006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SWR</a:t>
            </a:r>
            <a:endParaRPr lang="en-IN" sz="2400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10159478" y="6198374"/>
            <a:ext cx="1188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Styling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9959391" y="6927430"/>
            <a:ext cx="1699207" cy="6000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Styled Components</a:t>
            </a:r>
            <a:endParaRPr lang="en-IN" sz="2000" b="1" dirty="0"/>
          </a:p>
        </p:txBody>
      </p:sp>
      <p:sp>
        <p:nvSpPr>
          <p:cNvPr id="51" name="Rounded Rectangle 50"/>
          <p:cNvSpPr/>
          <p:nvPr/>
        </p:nvSpPr>
        <p:spPr>
          <a:xfrm>
            <a:off x="9937268" y="7770839"/>
            <a:ext cx="1721331" cy="62681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Tailwind CSS</a:t>
            </a:r>
            <a:endParaRPr lang="en-IN" sz="2000" b="1" dirty="0"/>
          </a:p>
        </p:txBody>
      </p:sp>
      <p:sp>
        <p:nvSpPr>
          <p:cNvPr id="52" name="Rounded Rectangle 51"/>
          <p:cNvSpPr/>
          <p:nvPr/>
        </p:nvSpPr>
        <p:spPr>
          <a:xfrm>
            <a:off x="9959391" y="8752480"/>
            <a:ext cx="1699207" cy="632107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CSS Modules</a:t>
            </a:r>
            <a:endParaRPr lang="en-IN" sz="2000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13479785" y="6263414"/>
            <a:ext cx="3030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State Management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12127682" y="6896097"/>
            <a:ext cx="1335546" cy="486719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Redux</a:t>
            </a:r>
            <a:endParaRPr lang="en-IN" sz="2000" b="1" dirty="0"/>
          </a:p>
        </p:txBody>
      </p:sp>
      <p:sp>
        <p:nvSpPr>
          <p:cNvPr id="55" name="Rounded Rectangle 54"/>
          <p:cNvSpPr/>
          <p:nvPr/>
        </p:nvSpPr>
        <p:spPr>
          <a:xfrm>
            <a:off x="13716000" y="6916993"/>
            <a:ext cx="1588318" cy="486719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ContextAPI</a:t>
            </a:r>
            <a:endParaRPr lang="en-IN" sz="2000" b="1" dirty="0"/>
          </a:p>
        </p:txBody>
      </p:sp>
      <p:sp>
        <p:nvSpPr>
          <p:cNvPr id="56" name="Rounded Rectangle 55"/>
          <p:cNvSpPr/>
          <p:nvPr/>
        </p:nvSpPr>
        <p:spPr>
          <a:xfrm>
            <a:off x="15716456" y="6927430"/>
            <a:ext cx="1588318" cy="486719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Recoil</a:t>
            </a:r>
            <a:endParaRPr lang="en-IN" sz="2000" b="1" dirty="0"/>
          </a:p>
        </p:txBody>
      </p:sp>
      <p:sp>
        <p:nvSpPr>
          <p:cNvPr id="57" name="Rounded Rectangle 56"/>
          <p:cNvSpPr/>
          <p:nvPr/>
        </p:nvSpPr>
        <p:spPr>
          <a:xfrm>
            <a:off x="13549187" y="8633054"/>
            <a:ext cx="2308408" cy="689755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State</a:t>
            </a:r>
            <a:endParaRPr lang="en-IN" sz="2000" b="1" dirty="0"/>
          </a:p>
        </p:txBody>
      </p:sp>
      <p:sp>
        <p:nvSpPr>
          <p:cNvPr id="58" name="Rounded Rectangle 57"/>
          <p:cNvSpPr/>
          <p:nvPr/>
        </p:nvSpPr>
        <p:spPr>
          <a:xfrm>
            <a:off x="12573001" y="2367849"/>
            <a:ext cx="4419598" cy="70541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Next.js</a:t>
            </a:r>
            <a:endParaRPr lang="en-IN" sz="2800" b="1" dirty="0"/>
          </a:p>
        </p:txBody>
      </p:sp>
      <p:sp>
        <p:nvSpPr>
          <p:cNvPr id="60" name="TextBox 59"/>
          <p:cNvSpPr txBox="1"/>
          <p:nvPr/>
        </p:nvSpPr>
        <p:spPr>
          <a:xfrm>
            <a:off x="14088824" y="3742729"/>
            <a:ext cx="17891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Navigation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12731277" y="4441916"/>
            <a:ext cx="4419599" cy="666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React</a:t>
            </a:r>
            <a:r>
              <a:rPr lang="en-US" sz="2400" b="1" dirty="0" smtClean="0"/>
              <a:t> Router</a:t>
            </a:r>
            <a:endParaRPr lang="en-IN" sz="2400" b="1" dirty="0"/>
          </a:p>
        </p:txBody>
      </p:sp>
      <p:sp>
        <p:nvSpPr>
          <p:cNvPr id="31" name="Rounded Rectangle 30"/>
          <p:cNvSpPr/>
          <p:nvPr/>
        </p:nvSpPr>
        <p:spPr>
          <a:xfrm>
            <a:off x="209916" y="6163985"/>
            <a:ext cx="2514600" cy="3429237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Rounded Rectangle 64"/>
          <p:cNvSpPr/>
          <p:nvPr/>
        </p:nvSpPr>
        <p:spPr>
          <a:xfrm>
            <a:off x="2895600" y="6187312"/>
            <a:ext cx="2232127" cy="3429237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Rounded Rectangle 65"/>
          <p:cNvSpPr/>
          <p:nvPr/>
        </p:nvSpPr>
        <p:spPr>
          <a:xfrm>
            <a:off x="5257801" y="6187313"/>
            <a:ext cx="2209800" cy="3429237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TextBox 66"/>
          <p:cNvSpPr txBox="1"/>
          <p:nvPr/>
        </p:nvSpPr>
        <p:spPr>
          <a:xfrm>
            <a:off x="746395" y="6198374"/>
            <a:ext cx="1522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DevTools</a:t>
            </a:r>
            <a:endParaRPr lang="en-IN" sz="2800" b="1" dirty="0"/>
          </a:p>
        </p:txBody>
      </p:sp>
      <p:sp>
        <p:nvSpPr>
          <p:cNvPr id="71" name="Rounded Rectangle 70"/>
          <p:cNvSpPr/>
          <p:nvPr/>
        </p:nvSpPr>
        <p:spPr>
          <a:xfrm>
            <a:off x="7534758" y="6187311"/>
            <a:ext cx="2209800" cy="3429237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Rounded Rectangle 71"/>
          <p:cNvSpPr/>
          <p:nvPr/>
        </p:nvSpPr>
        <p:spPr>
          <a:xfrm>
            <a:off x="9864591" y="6208830"/>
            <a:ext cx="1870209" cy="3429237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ounded Rectangle 72"/>
          <p:cNvSpPr/>
          <p:nvPr/>
        </p:nvSpPr>
        <p:spPr>
          <a:xfrm>
            <a:off x="11906865" y="6198374"/>
            <a:ext cx="5593053" cy="3439693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3" name="Straight Connector 62"/>
          <p:cNvCxnSpPr/>
          <p:nvPr/>
        </p:nvCxnSpPr>
        <p:spPr>
          <a:xfrm>
            <a:off x="12795455" y="7382816"/>
            <a:ext cx="1907936" cy="12502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9" name="Straight Connector 4098"/>
          <p:cNvCxnSpPr/>
          <p:nvPr/>
        </p:nvCxnSpPr>
        <p:spPr>
          <a:xfrm>
            <a:off x="14636636" y="7414149"/>
            <a:ext cx="66755" cy="1218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1" name="Straight Connector 4100"/>
          <p:cNvCxnSpPr/>
          <p:nvPr/>
        </p:nvCxnSpPr>
        <p:spPr>
          <a:xfrm flipV="1">
            <a:off x="14703391" y="7414149"/>
            <a:ext cx="1807224" cy="1218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4061216" y="7664731"/>
            <a:ext cx="112242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In-Built</a:t>
            </a:r>
            <a:endParaRPr lang="en-IN" sz="2400" b="1" dirty="0"/>
          </a:p>
        </p:txBody>
      </p:sp>
      <p:sp>
        <p:nvSpPr>
          <p:cNvPr id="83" name="TextBox 82"/>
          <p:cNvSpPr txBox="1"/>
          <p:nvPr/>
        </p:nvSpPr>
        <p:spPr>
          <a:xfrm>
            <a:off x="12272656" y="7701320"/>
            <a:ext cx="144334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Advanced</a:t>
            </a:r>
            <a:endParaRPr lang="en-IN" sz="2400" b="1" dirty="0"/>
          </a:p>
        </p:txBody>
      </p:sp>
      <p:sp>
        <p:nvSpPr>
          <p:cNvPr id="84" name="TextBox 83"/>
          <p:cNvSpPr txBox="1"/>
          <p:nvPr/>
        </p:nvSpPr>
        <p:spPr>
          <a:xfrm>
            <a:off x="15373444" y="7770839"/>
            <a:ext cx="121379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Modern</a:t>
            </a:r>
            <a:endParaRPr lang="en-IN" sz="2400" b="1" dirty="0"/>
          </a:p>
        </p:txBody>
      </p:sp>
      <p:sp>
        <p:nvSpPr>
          <p:cNvPr id="85" name="Rounded Rectangle 84"/>
          <p:cNvSpPr/>
          <p:nvPr/>
        </p:nvSpPr>
        <p:spPr>
          <a:xfrm>
            <a:off x="12272656" y="1620255"/>
            <a:ext cx="5062844" cy="180099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Rounded Rectangle 85"/>
          <p:cNvSpPr/>
          <p:nvPr/>
        </p:nvSpPr>
        <p:spPr>
          <a:xfrm>
            <a:off x="12297997" y="3618924"/>
            <a:ext cx="5062844" cy="1829376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TextBox 86"/>
          <p:cNvSpPr txBox="1"/>
          <p:nvPr/>
        </p:nvSpPr>
        <p:spPr>
          <a:xfrm>
            <a:off x="14577837" y="1620255"/>
            <a:ext cx="7264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002060"/>
                </a:solidFill>
              </a:rPr>
              <a:t>SSR</a:t>
            </a:r>
            <a:endParaRPr lang="en-IN" sz="2800" b="1" dirty="0">
              <a:solidFill>
                <a:srgbClr val="002060"/>
              </a:solidFill>
            </a:endParaRPr>
          </a:p>
        </p:txBody>
      </p:sp>
      <p:cxnSp>
        <p:nvCxnSpPr>
          <p:cNvPr id="4104" name="Straight Connector 4103"/>
          <p:cNvCxnSpPr>
            <a:stCxn id="29" idx="1"/>
            <a:endCxn id="31" idx="0"/>
          </p:cNvCxnSpPr>
          <p:nvPr/>
        </p:nvCxnSpPr>
        <p:spPr>
          <a:xfrm flipH="1">
            <a:off x="1467216" y="4004340"/>
            <a:ext cx="5207944" cy="21596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8" name="Straight Connector 4107"/>
          <p:cNvCxnSpPr>
            <a:stCxn id="29" idx="1"/>
            <a:endCxn id="65" idx="0"/>
          </p:cNvCxnSpPr>
          <p:nvPr/>
        </p:nvCxnSpPr>
        <p:spPr>
          <a:xfrm flipH="1">
            <a:off x="4011664" y="4004340"/>
            <a:ext cx="2663496" cy="21829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0" name="Straight Connector 4109"/>
          <p:cNvCxnSpPr>
            <a:stCxn id="29" idx="2"/>
            <a:endCxn id="66" idx="0"/>
          </p:cNvCxnSpPr>
          <p:nvPr/>
        </p:nvCxnSpPr>
        <p:spPr>
          <a:xfrm flipH="1">
            <a:off x="6362701" y="4389755"/>
            <a:ext cx="1761959" cy="17975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2" name="Straight Connector 4111"/>
          <p:cNvCxnSpPr>
            <a:stCxn id="29" idx="2"/>
            <a:endCxn id="71" idx="0"/>
          </p:cNvCxnSpPr>
          <p:nvPr/>
        </p:nvCxnSpPr>
        <p:spPr>
          <a:xfrm>
            <a:off x="8124660" y="4389755"/>
            <a:ext cx="514998" cy="1797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4" name="Straight Connector 4113"/>
          <p:cNvCxnSpPr>
            <a:stCxn id="29" idx="2"/>
            <a:endCxn id="72" idx="0"/>
          </p:cNvCxnSpPr>
          <p:nvPr/>
        </p:nvCxnSpPr>
        <p:spPr>
          <a:xfrm>
            <a:off x="8124660" y="4389755"/>
            <a:ext cx="2675036" cy="1819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6" name="Straight Connector 4115"/>
          <p:cNvCxnSpPr>
            <a:stCxn id="29" idx="2"/>
          </p:cNvCxnSpPr>
          <p:nvPr/>
        </p:nvCxnSpPr>
        <p:spPr>
          <a:xfrm>
            <a:off x="8124660" y="4389755"/>
            <a:ext cx="6870540" cy="1797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8" name="Straight Connector 4117"/>
          <p:cNvCxnSpPr>
            <a:stCxn id="27" idx="3"/>
            <a:endCxn id="85" idx="1"/>
          </p:cNvCxnSpPr>
          <p:nvPr/>
        </p:nvCxnSpPr>
        <p:spPr>
          <a:xfrm flipV="1">
            <a:off x="9601200" y="2520755"/>
            <a:ext cx="2671456" cy="1483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0" name="Straight Connector 4119"/>
          <p:cNvCxnSpPr>
            <a:stCxn id="29" idx="3"/>
            <a:endCxn id="86" idx="1"/>
          </p:cNvCxnSpPr>
          <p:nvPr/>
        </p:nvCxnSpPr>
        <p:spPr>
          <a:xfrm>
            <a:off x="9574159" y="4004340"/>
            <a:ext cx="2723838" cy="5292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641975" y="3421253"/>
            <a:ext cx="2228636" cy="770831"/>
          </a:xfrm>
          <a:prstGeom prst="round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JSX Syntax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110" name="Rounded Rectangle 109"/>
          <p:cNvSpPr/>
          <p:nvPr/>
        </p:nvSpPr>
        <p:spPr>
          <a:xfrm>
            <a:off x="666964" y="4517702"/>
            <a:ext cx="2228636" cy="770831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React Hooks</a:t>
            </a:r>
            <a:endParaRPr lang="en-IN" sz="2800" b="1" dirty="0">
              <a:solidFill>
                <a:schemeClr val="bg1"/>
              </a:solidFill>
            </a:endParaRPr>
          </a:p>
        </p:txBody>
      </p:sp>
      <p:cxnSp>
        <p:nvCxnSpPr>
          <p:cNvPr id="4124" name="Straight Connector 4123"/>
          <p:cNvCxnSpPr>
            <a:stCxn id="108" idx="3"/>
            <a:endCxn id="29" idx="1"/>
          </p:cNvCxnSpPr>
          <p:nvPr/>
        </p:nvCxnSpPr>
        <p:spPr>
          <a:xfrm>
            <a:off x="2870611" y="3806669"/>
            <a:ext cx="3804549" cy="1976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7" name="Straight Connector 4126"/>
          <p:cNvCxnSpPr>
            <a:stCxn id="29" idx="1"/>
            <a:endCxn id="110" idx="3"/>
          </p:cNvCxnSpPr>
          <p:nvPr/>
        </p:nvCxnSpPr>
        <p:spPr>
          <a:xfrm flipH="1">
            <a:off x="2895600" y="4004340"/>
            <a:ext cx="3779560" cy="8987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3976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101674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066800" y="495858"/>
            <a:ext cx="719434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Key Features of React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086464" y="1895168"/>
            <a:ext cx="6477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ound Diagonal Corner Rectangle 31"/>
          <p:cNvSpPr/>
          <p:nvPr/>
        </p:nvSpPr>
        <p:spPr>
          <a:xfrm>
            <a:off x="1612082" y="2610026"/>
            <a:ext cx="6622026" cy="990600"/>
          </a:xfrm>
          <a:prstGeom prst="round2Diag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Declarative UI</a:t>
            </a:r>
            <a:endParaRPr lang="en-IN" sz="36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220" y="2857500"/>
            <a:ext cx="629264" cy="49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6161" y="1895168"/>
            <a:ext cx="6435213" cy="8125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95400" y="4076700"/>
            <a:ext cx="585544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6000" dirty="0" smtClean="0"/>
              <a:t>List = [1</a:t>
            </a:r>
            <a:r>
              <a:rPr lang="en-IN" sz="6000" dirty="0"/>
              <a:t>, 2, 3, 4, 5]</a:t>
            </a:r>
            <a:endParaRPr lang="en-IN" sz="6000" dirty="0"/>
          </a:p>
        </p:txBody>
      </p:sp>
      <p:sp>
        <p:nvSpPr>
          <p:cNvPr id="6" name="Rectangle 5"/>
          <p:cNvSpPr/>
          <p:nvPr/>
        </p:nvSpPr>
        <p:spPr>
          <a:xfrm>
            <a:off x="1295400" y="5077342"/>
            <a:ext cx="874733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 dirty="0" smtClean="0">
                <a:solidFill>
                  <a:srgbClr val="FF0000"/>
                </a:solidFill>
              </a:rPr>
              <a:t>Requirement</a:t>
            </a:r>
            <a:r>
              <a:rPr lang="en-IN" sz="4400" dirty="0" smtClean="0"/>
              <a:t>: Access </a:t>
            </a:r>
            <a:r>
              <a:rPr lang="en-IN" sz="4400" dirty="0"/>
              <a:t>its last </a:t>
            </a:r>
            <a:r>
              <a:rPr lang="en-IN" sz="4400" dirty="0" smtClean="0"/>
              <a:t>element.</a:t>
            </a:r>
            <a:endParaRPr lang="en-IN" sz="4400" dirty="0"/>
          </a:p>
        </p:txBody>
      </p:sp>
      <p:sp>
        <p:nvSpPr>
          <p:cNvPr id="11" name="Rectangle 10"/>
          <p:cNvSpPr/>
          <p:nvPr/>
        </p:nvSpPr>
        <p:spPr>
          <a:xfrm>
            <a:off x="1501353" y="5994090"/>
            <a:ext cx="272177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 b="1" dirty="0" smtClean="0"/>
              <a:t>Imperative</a:t>
            </a:r>
            <a:endParaRPr lang="en-IN" sz="4400" b="1" dirty="0"/>
          </a:p>
        </p:txBody>
      </p:sp>
      <p:sp>
        <p:nvSpPr>
          <p:cNvPr id="26" name="Rectangle 25"/>
          <p:cNvSpPr/>
          <p:nvPr/>
        </p:nvSpPr>
        <p:spPr>
          <a:xfrm>
            <a:off x="6629400" y="6047144"/>
            <a:ext cx="281795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 b="1" dirty="0" smtClean="0"/>
              <a:t>Declarative</a:t>
            </a:r>
            <a:endParaRPr lang="en-IN" sz="4400" b="1" dirty="0"/>
          </a:p>
        </p:txBody>
      </p:sp>
      <p:sp>
        <p:nvSpPr>
          <p:cNvPr id="14" name="Rectangle 13"/>
          <p:cNvSpPr/>
          <p:nvPr/>
        </p:nvSpPr>
        <p:spPr>
          <a:xfrm>
            <a:off x="1066800" y="6921154"/>
            <a:ext cx="4191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§"/>
            </a:pPr>
            <a:r>
              <a:rPr lang="en-US" sz="2800" dirty="0"/>
              <a:t>Loop through this list: [1, 2, 3, 4, 5]</a:t>
            </a:r>
          </a:p>
          <a:p>
            <a:pPr marL="285750" indent="-285750" algn="just">
              <a:buFont typeface="Wingdings" pitchFamily="2" charset="2"/>
              <a:buChar char="§"/>
            </a:pPr>
            <a:r>
              <a:rPr lang="en-US" sz="2800" dirty="0"/>
              <a:t>Access the element at index list.length - 1</a:t>
            </a:r>
          </a:p>
          <a:p>
            <a:pPr marL="285750" indent="-285750" algn="just">
              <a:buFont typeface="Wingdings" pitchFamily="2" charset="2"/>
              <a:buChar char="§"/>
            </a:pPr>
            <a:r>
              <a:rPr lang="en-US" sz="2800" dirty="0"/>
              <a:t>Return the element</a:t>
            </a:r>
            <a:endParaRPr lang="en-IN" sz="2800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5562600" y="6591300"/>
            <a:ext cx="0" cy="28448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791200" y="6908258"/>
            <a:ext cx="454496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2800" dirty="0"/>
              <a:t>I have this list: [1, 2, 3, 4, 5]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800" dirty="0"/>
              <a:t>I want the last element of this list</a:t>
            </a:r>
            <a:endParaRPr lang="en-IN" sz="2800" dirty="0"/>
          </a:p>
        </p:txBody>
      </p:sp>
      <p:cxnSp>
        <p:nvCxnSpPr>
          <p:cNvPr id="28" name="Straight Connector 27"/>
          <p:cNvCxnSpPr/>
          <p:nvPr/>
        </p:nvCxnSpPr>
        <p:spPr>
          <a:xfrm>
            <a:off x="1295400" y="6763531"/>
            <a:ext cx="396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6057175" y="6787049"/>
            <a:ext cx="396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94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101674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066800" y="495858"/>
            <a:ext cx="719434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Key Features of React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086464" y="1895168"/>
            <a:ext cx="6477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ound Diagonal Corner Rectangle 31"/>
          <p:cNvSpPr/>
          <p:nvPr/>
        </p:nvSpPr>
        <p:spPr>
          <a:xfrm>
            <a:off x="1612082" y="2610026"/>
            <a:ext cx="6622026" cy="990600"/>
          </a:xfrm>
          <a:prstGeom prst="round2Diag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Fast Learning Curve</a:t>
            </a:r>
            <a:endParaRPr lang="en-IN" sz="36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220" y="2857500"/>
            <a:ext cx="629264" cy="49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Round Diagonal Corner Rectangle 18"/>
          <p:cNvSpPr/>
          <p:nvPr/>
        </p:nvSpPr>
        <p:spPr>
          <a:xfrm>
            <a:off x="2143774" y="3961401"/>
            <a:ext cx="6695426" cy="783193"/>
          </a:xfrm>
          <a:prstGeom prst="round2DiagRect">
            <a:avLst/>
          </a:prstGeom>
          <a:noFill/>
          <a:ln>
            <a:solidFill>
              <a:schemeClr val="tx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IN" sz="4000" dirty="0"/>
              <a:t>Simple and Intuitive </a:t>
            </a:r>
            <a:r>
              <a:rPr lang="en-IN" sz="4000" dirty="0" smtClean="0"/>
              <a:t>Syntax</a:t>
            </a:r>
            <a:endParaRPr lang="en-IN" sz="4000" dirty="0"/>
          </a:p>
        </p:txBody>
      </p:sp>
      <p:sp>
        <p:nvSpPr>
          <p:cNvPr id="21" name="Round Diagonal Corner Rectangle 20"/>
          <p:cNvSpPr/>
          <p:nvPr/>
        </p:nvSpPr>
        <p:spPr>
          <a:xfrm>
            <a:off x="9753942" y="3952798"/>
            <a:ext cx="6695426" cy="783193"/>
          </a:xfrm>
          <a:prstGeom prst="round2DiagRect">
            <a:avLst/>
          </a:prstGeom>
          <a:noFill/>
          <a:ln>
            <a:solidFill>
              <a:schemeClr val="tx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IN" sz="4000" dirty="0"/>
              <a:t>Component-Based Structure</a:t>
            </a:r>
          </a:p>
        </p:txBody>
      </p:sp>
      <p:sp>
        <p:nvSpPr>
          <p:cNvPr id="22" name="Round Diagonal Corner Rectangle 21"/>
          <p:cNvSpPr/>
          <p:nvPr/>
        </p:nvSpPr>
        <p:spPr>
          <a:xfrm>
            <a:off x="2129026" y="5274707"/>
            <a:ext cx="6695426" cy="783193"/>
          </a:xfrm>
          <a:prstGeom prst="round2DiagRect">
            <a:avLst/>
          </a:prstGeom>
          <a:noFill/>
          <a:ln>
            <a:solidFill>
              <a:schemeClr val="tx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IN" sz="4000" dirty="0"/>
              <a:t>Extensive Documentation</a:t>
            </a:r>
          </a:p>
        </p:txBody>
      </p:sp>
      <p:sp>
        <p:nvSpPr>
          <p:cNvPr id="26" name="Round Diagonal Corner Rectangle 25"/>
          <p:cNvSpPr/>
          <p:nvPr/>
        </p:nvSpPr>
        <p:spPr>
          <a:xfrm>
            <a:off x="9763774" y="5225310"/>
            <a:ext cx="6695426" cy="783193"/>
          </a:xfrm>
          <a:prstGeom prst="round2DiagRect">
            <a:avLst/>
          </a:prstGeom>
          <a:noFill/>
          <a:ln>
            <a:solidFill>
              <a:schemeClr val="tx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IN" sz="4000" dirty="0"/>
              <a:t>Rich Developer Tools</a:t>
            </a:r>
          </a:p>
        </p:txBody>
      </p:sp>
    </p:spTree>
    <p:extLst>
      <p:ext uri="{BB962C8B-B14F-4D97-AF65-F5344CB8AC3E}">
        <p14:creationId xmlns:p14="http://schemas.microsoft.com/office/powerpoint/2010/main" val="316865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2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101674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066800" y="495858"/>
            <a:ext cx="719434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Key Features of React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086464" y="1895168"/>
            <a:ext cx="6477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ound Diagonal Corner Rectangle 31"/>
          <p:cNvSpPr/>
          <p:nvPr/>
        </p:nvSpPr>
        <p:spPr>
          <a:xfrm>
            <a:off x="1612082" y="2114726"/>
            <a:ext cx="6622026" cy="990600"/>
          </a:xfrm>
          <a:prstGeom prst="round2Diag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Unidirectional Data Flow </a:t>
            </a:r>
            <a:endParaRPr lang="en-IN" sz="36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220" y="2361847"/>
            <a:ext cx="629264" cy="49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9489" y="3030315"/>
            <a:ext cx="8877974" cy="4072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221221" y="3145537"/>
            <a:ext cx="7403748" cy="4826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800" dirty="0"/>
              <a:t>In React, data flows in a single direction: from parent components to child components.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800" dirty="0"/>
              <a:t>The parent component manages the state and passes data to child components via props.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800" dirty="0"/>
              <a:t>This flow simplifies data management and helps prevent unexpected changes in the application state. </a:t>
            </a:r>
          </a:p>
        </p:txBody>
      </p:sp>
    </p:spTree>
    <p:extLst>
      <p:ext uri="{BB962C8B-B14F-4D97-AF65-F5344CB8AC3E}">
        <p14:creationId xmlns:p14="http://schemas.microsoft.com/office/powerpoint/2010/main" val="3291460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101674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066800" y="495858"/>
            <a:ext cx="719434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Key Features of React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086464" y="1895168"/>
            <a:ext cx="6477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ound Diagonal Corner Rectangle 31"/>
          <p:cNvSpPr/>
          <p:nvPr/>
        </p:nvSpPr>
        <p:spPr>
          <a:xfrm>
            <a:off x="1612082" y="2610026"/>
            <a:ext cx="6622026" cy="990600"/>
          </a:xfrm>
          <a:prstGeom prst="round2Diag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Community Support</a:t>
            </a:r>
            <a:endParaRPr lang="en-IN" sz="36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220" y="2857500"/>
            <a:ext cx="629264" cy="49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629288" y="4152900"/>
            <a:ext cx="45492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/>
              <a:t>1. </a:t>
            </a:r>
            <a:r>
              <a:rPr lang="en-IN" sz="3200" b="1" dirty="0" smtClean="0">
                <a:hlinkClick r:id="rId5"/>
              </a:rPr>
              <a:t>Official </a:t>
            </a:r>
            <a:r>
              <a:rPr lang="en-IN" sz="3200" b="1" dirty="0">
                <a:hlinkClick r:id="rId5"/>
              </a:rPr>
              <a:t>Documentation</a:t>
            </a:r>
            <a:endParaRPr lang="en-IN" sz="3200" b="1" dirty="0"/>
          </a:p>
        </p:txBody>
      </p:sp>
      <p:sp>
        <p:nvSpPr>
          <p:cNvPr id="20" name="Rectangle 19"/>
          <p:cNvSpPr/>
          <p:nvPr/>
        </p:nvSpPr>
        <p:spPr>
          <a:xfrm>
            <a:off x="1607166" y="5373329"/>
            <a:ext cx="17988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/>
              <a:t>2</a:t>
            </a:r>
            <a:r>
              <a:rPr lang="en-IN" sz="3200" b="1" dirty="0" smtClean="0"/>
              <a:t>. </a:t>
            </a:r>
            <a:r>
              <a:rPr lang="en-IN" sz="3200" b="1" dirty="0" smtClean="0">
                <a:hlinkClick r:id="rId6"/>
              </a:rPr>
              <a:t>GitHub</a:t>
            </a:r>
            <a:endParaRPr lang="en-IN" sz="3200" b="1" dirty="0"/>
          </a:p>
        </p:txBody>
      </p:sp>
      <p:sp>
        <p:nvSpPr>
          <p:cNvPr id="21" name="Rectangle 20"/>
          <p:cNvSpPr/>
          <p:nvPr/>
        </p:nvSpPr>
        <p:spPr>
          <a:xfrm>
            <a:off x="1626830" y="6653981"/>
            <a:ext cx="31688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/>
              <a:t>3. </a:t>
            </a:r>
            <a:r>
              <a:rPr lang="en-IN" sz="3200" b="1" dirty="0">
                <a:hlinkClick r:id="rId7"/>
              </a:rPr>
              <a:t>Stack Overflow</a:t>
            </a:r>
            <a:endParaRPr lang="en-IN" sz="3200" b="1" dirty="0"/>
          </a:p>
        </p:txBody>
      </p:sp>
      <p:sp>
        <p:nvSpPr>
          <p:cNvPr id="22" name="Rectangle 21"/>
          <p:cNvSpPr/>
          <p:nvPr/>
        </p:nvSpPr>
        <p:spPr>
          <a:xfrm>
            <a:off x="9372600" y="4166419"/>
            <a:ext cx="17095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/>
              <a:t>4. </a:t>
            </a:r>
            <a:r>
              <a:rPr lang="en-IN" sz="3200" b="1" dirty="0">
                <a:hlinkClick r:id="rId8"/>
              </a:rPr>
              <a:t>Reddit</a:t>
            </a:r>
            <a:endParaRPr lang="en-IN" sz="3200" b="1" dirty="0"/>
          </a:p>
        </p:txBody>
      </p:sp>
      <p:sp>
        <p:nvSpPr>
          <p:cNvPr id="26" name="Rectangle 25"/>
          <p:cNvSpPr/>
          <p:nvPr/>
        </p:nvSpPr>
        <p:spPr>
          <a:xfrm>
            <a:off x="9350478" y="5386848"/>
            <a:ext cx="57260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/>
              <a:t>5. </a:t>
            </a:r>
            <a:r>
              <a:rPr lang="en-IN" sz="3200" b="1" dirty="0">
                <a:hlinkClick r:id="rId9"/>
              </a:rPr>
              <a:t>Reactiflux Discord Community</a:t>
            </a:r>
            <a:endParaRPr lang="en-IN" sz="3200" b="1" dirty="0"/>
          </a:p>
        </p:txBody>
      </p:sp>
      <p:sp>
        <p:nvSpPr>
          <p:cNvPr id="27" name="Rectangle 26"/>
          <p:cNvSpPr/>
          <p:nvPr/>
        </p:nvSpPr>
        <p:spPr>
          <a:xfrm>
            <a:off x="9370142" y="6667500"/>
            <a:ext cx="46782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/>
              <a:t>6</a:t>
            </a:r>
            <a:r>
              <a:rPr lang="en-US" sz="3200" b="1" dirty="0"/>
              <a:t>. </a:t>
            </a:r>
            <a:r>
              <a:rPr lang="en-US" sz="3200" b="1" dirty="0">
                <a:hlinkClick r:id="rId10"/>
              </a:rPr>
              <a:t>Meetups &amp; Conferences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987473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101674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066800" y="196924"/>
            <a:ext cx="719434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Learning Path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066800" y="1120254"/>
            <a:ext cx="6477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AutoShape 2" descr="https://blogger.googleusercontent.com/img/a/AVvXsEjiugz9BkV10PxsEuL1m1c0smOaonrvwGOiOESGNnZRA-vlSM9_c_oj39wIk7zAhaDMT2H3514VDJiJMSxxz4Y906UKJHRRnJK5IhlQXqTWjY90tGhx6nw-dmooKnHwXd95qEYUrGd4oa5BwPRY_OaWdJYePi9RdhpiMqEma2doRN6bCjCCYy_gbJk7=s16000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350" y="1333501"/>
            <a:ext cx="10763250" cy="895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3505200" y="5977101"/>
            <a:ext cx="4191001" cy="775516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rgbClr val="002060"/>
                </a:solidFill>
              </a:rPr>
              <a:t>Reacts Learning Path</a:t>
            </a:r>
            <a:endParaRPr lang="en-IN" sz="3200" b="1" dirty="0">
              <a:solidFill>
                <a:srgbClr val="00206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95600" y="1339957"/>
            <a:ext cx="2743200" cy="619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23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686597"/>
              </p:ext>
            </p:extLst>
          </p:nvPr>
        </p:nvGraphicFramePr>
        <p:xfrm>
          <a:off x="1219200" y="2133996"/>
          <a:ext cx="11430000" cy="7504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3908"/>
                <a:gridCol w="5166092"/>
              </a:tblGrid>
              <a:tr h="14412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800" b="1" u="none" dirty="0" smtClean="0">
                          <a:solidFill>
                            <a:srgbClr val="002060"/>
                          </a:solidFill>
                          <a:latin typeface="Helvetica Neue"/>
                          <a:hlinkClick r:id="rId2"/>
                        </a:rPr>
                        <a:t>1. Node.js and </a:t>
                      </a:r>
                      <a:r>
                        <a:rPr lang="en-IN" sz="4800" b="1" u="none" dirty="0" err="1" smtClean="0">
                          <a:solidFill>
                            <a:srgbClr val="002060"/>
                          </a:solidFill>
                          <a:latin typeface="Helvetica Neue"/>
                          <a:hlinkClick r:id="rId2"/>
                        </a:rPr>
                        <a:t>npm</a:t>
                      </a:r>
                      <a:endParaRPr lang="en-IN" sz="4800" b="1" u="none" dirty="0" smtClean="0">
                        <a:solidFill>
                          <a:srgbClr val="002060"/>
                        </a:solidFill>
                        <a:latin typeface="Helvetica Neue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33658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800" b="1" u="none" dirty="0" smtClean="0">
                          <a:hlinkClick r:id="rId3"/>
                        </a:rPr>
                        <a:t>2. Yarn</a:t>
                      </a:r>
                      <a:endParaRPr lang="en-IN" sz="4800" b="1" u="none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93486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800" b="1" u="none" dirty="0" smtClean="0">
                          <a:hlinkClick r:id="rId4"/>
                        </a:rPr>
                        <a:t>3. Babel</a:t>
                      </a:r>
                      <a:endParaRPr lang="en-IN" sz="4800" b="1" u="none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9478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800" b="1" u="none" dirty="0" smtClean="0">
                          <a:hlinkClick r:id="rId5"/>
                        </a:rPr>
                        <a:t>4. Webpack</a:t>
                      </a:r>
                      <a:endParaRPr lang="en-IN" sz="4800" b="1" u="none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9478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800" b="1" u="none" dirty="0" smtClean="0">
                          <a:hlinkClick r:id="rId6"/>
                        </a:rPr>
                        <a:t>5. ESLint</a:t>
                      </a:r>
                      <a:endParaRPr lang="en-IN" sz="4800" b="1" u="none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9478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800" b="1" u="none" dirty="0" smtClean="0">
                          <a:hlinkClick r:id="rId7"/>
                        </a:rPr>
                        <a:t>6. Prettier</a:t>
                      </a:r>
                      <a:endParaRPr lang="en-IN" sz="4800" b="1" u="none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9478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u="none" dirty="0" smtClean="0">
                          <a:hlinkClick r:id="rId8"/>
                        </a:rPr>
                        <a:t>7. Editor</a:t>
                      </a:r>
                      <a:endParaRPr lang="en-IN" sz="4800" b="1" u="none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997974" y="155473"/>
            <a:ext cx="1222354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Setting Up the Development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1045" y="1333500"/>
            <a:ext cx="320658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Tools and Setup</a:t>
            </a:r>
          </a:p>
          <a:p>
            <a:endParaRPr lang="en-IN" sz="3600" dirty="0">
              <a:solidFill>
                <a:srgbClr val="002060"/>
              </a:solidFill>
            </a:endParaRP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9020" y="4916075"/>
            <a:ext cx="2138364" cy="969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4" name="Picture 8" descr="webpack SVG Logos - Logo Search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2418" y="5940024"/>
            <a:ext cx="2836966" cy="81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5" name="Picture 9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8367" y="6963876"/>
            <a:ext cx="1994966" cy="83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6" name="Picture 10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353" y="7916439"/>
            <a:ext cx="610184" cy="651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7" name="Picture 11"/>
          <p:cNvPicPr>
            <a:picLocks noChangeAspect="1" noChangeArrowheads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28" r="29237"/>
          <a:stretch/>
        </p:blipFill>
        <p:spPr bwMode="auto">
          <a:xfrm>
            <a:off x="8610600" y="8921689"/>
            <a:ext cx="1066800" cy="866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2" descr="Failles critiques pour Node.js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8800" y="1974235"/>
            <a:ext cx="2238373" cy="1119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3745149"/>
            <a:ext cx="2160100" cy="862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3" name="Straight Connector 12"/>
          <p:cNvCxnSpPr/>
          <p:nvPr/>
        </p:nvCxnSpPr>
        <p:spPr>
          <a:xfrm>
            <a:off x="1337549" y="4762500"/>
            <a:ext cx="151216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371600" y="3314700"/>
            <a:ext cx="15087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337549" y="5885467"/>
            <a:ext cx="151216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1420116" y="6896100"/>
            <a:ext cx="15039084" cy="33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1273658" y="7795617"/>
            <a:ext cx="15185542" cy="120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1337549" y="8819412"/>
            <a:ext cx="151216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1273658" y="9878658"/>
            <a:ext cx="151855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259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60613" y="338435"/>
            <a:ext cx="1222354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n</a:t>
            </a: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pm vs yarn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337187"/>
            <a:ext cx="14554200" cy="864955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5558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295400" y="186035"/>
            <a:ext cx="1222354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n</a:t>
            </a: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pm vs yarn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027903"/>
            <a:ext cx="14211960" cy="7239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756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012723" y="409575"/>
            <a:ext cx="1222354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Different Ways to Create React App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12723" y="1943100"/>
            <a:ext cx="83276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 smtClean="0"/>
              <a:t>1. Using </a:t>
            </a:r>
            <a:r>
              <a:rPr lang="en-US" sz="4800" b="1" dirty="0"/>
              <a:t>Create React App (</a:t>
            </a:r>
            <a:r>
              <a:rPr lang="en-US" sz="4800" b="1" dirty="0" smtClean="0"/>
              <a:t>CRA)</a:t>
            </a:r>
            <a:endParaRPr lang="en-IN" sz="4800" b="1" dirty="0"/>
          </a:p>
        </p:txBody>
      </p:sp>
      <p:sp>
        <p:nvSpPr>
          <p:cNvPr id="11" name="Rectangle 10"/>
          <p:cNvSpPr/>
          <p:nvPr/>
        </p:nvSpPr>
        <p:spPr>
          <a:xfrm>
            <a:off x="1752600" y="2809739"/>
            <a:ext cx="14097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dirty="0" smtClean="0"/>
              <a:t> Recommended </a:t>
            </a:r>
            <a:r>
              <a:rPr lang="en-US" sz="3200" dirty="0"/>
              <a:t>for beginners and quick </a:t>
            </a:r>
            <a:r>
              <a:rPr lang="en-US" sz="3200" dirty="0" smtClean="0"/>
              <a:t>prototypes.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dirty="0" smtClean="0"/>
              <a:t> It </a:t>
            </a:r>
            <a:r>
              <a:rPr lang="en-US" sz="3200" dirty="0"/>
              <a:t>is the simplest way to start a new React project without manual configuration</a:t>
            </a:r>
            <a:r>
              <a:rPr lang="en-US" sz="3200" dirty="0" smtClean="0"/>
              <a:t>.</a:t>
            </a:r>
            <a:endParaRPr lang="en-US" sz="3200" dirty="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b="1" dirty="0" smtClean="0"/>
              <a:t> Pros</a:t>
            </a:r>
            <a:r>
              <a:rPr lang="en-US" sz="3200" b="1" dirty="0"/>
              <a:t>:</a:t>
            </a:r>
            <a:r>
              <a:rPr lang="en-US" sz="3200" dirty="0"/>
              <a:t> Easy setup, pre-configured with best practices, includes build scripts, hot reloading, and linting</a:t>
            </a:r>
            <a:r>
              <a:rPr lang="en-US" sz="32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b="1" dirty="0" smtClean="0"/>
              <a:t>Command  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endParaRPr lang="en-US" sz="3200" b="1" dirty="0"/>
          </a:p>
          <a:p>
            <a:pPr algn="just">
              <a:lnSpc>
                <a:spcPct val="150000"/>
              </a:lnSpc>
            </a:pPr>
            <a:endParaRPr lang="en-US" sz="3200" b="1" dirty="0"/>
          </a:p>
          <a:p>
            <a:pPr algn="just">
              <a:lnSpc>
                <a:spcPct val="150000"/>
              </a:lnSpc>
            </a:pPr>
            <a:endParaRPr lang="en-US" sz="3200" b="1" dirty="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IN" sz="3200" dirty="0">
                <a:hlinkClick r:id="rId4"/>
              </a:rPr>
              <a:t>Create React App Documentation</a:t>
            </a:r>
            <a:endParaRPr lang="en-IN" sz="3200" b="1" dirty="0"/>
          </a:p>
        </p:txBody>
      </p:sp>
      <p:sp>
        <p:nvSpPr>
          <p:cNvPr id="12" name="Rounded Rectangle 11"/>
          <p:cNvSpPr/>
          <p:nvPr/>
        </p:nvSpPr>
        <p:spPr>
          <a:xfrm>
            <a:off x="2362200" y="6586957"/>
            <a:ext cx="13563600" cy="1532334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npx create-react-app my-app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cd my-app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npm start</a:t>
            </a:r>
            <a:endParaRPr lang="en-IN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439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012723" y="409575"/>
            <a:ext cx="1222354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Different Ways to Create React App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12723" y="1943100"/>
            <a:ext cx="339118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/>
              <a:t>2. Using Vite</a:t>
            </a:r>
            <a:endParaRPr lang="en-IN" sz="4800" b="1" dirty="0"/>
          </a:p>
        </p:txBody>
      </p:sp>
      <p:sp>
        <p:nvSpPr>
          <p:cNvPr id="11" name="Rectangle 10"/>
          <p:cNvSpPr/>
          <p:nvPr/>
        </p:nvSpPr>
        <p:spPr>
          <a:xfrm>
            <a:off x="1723103" y="2774097"/>
            <a:ext cx="14097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dirty="0"/>
              <a:t> For faster builds and a more modern development experience</a:t>
            </a:r>
            <a:r>
              <a:rPr lang="en-US" sz="32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dirty="0"/>
              <a:t> Vite is a build tool that is much faster than CRA, providing a more efficient developer experience.</a:t>
            </a:r>
            <a:r>
              <a:rPr lang="en-US" sz="3200" b="1" dirty="0" smtClean="0"/>
              <a:t>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b="1" dirty="0"/>
              <a:t> </a:t>
            </a:r>
            <a:r>
              <a:rPr lang="en-US" sz="3200" b="1" dirty="0" smtClean="0"/>
              <a:t>Pros</a:t>
            </a:r>
            <a:r>
              <a:rPr lang="en-US" sz="3200" b="1" dirty="0"/>
              <a:t>:</a:t>
            </a:r>
            <a:r>
              <a:rPr lang="en-US" sz="3200" dirty="0"/>
              <a:t> Fast startup, lightweight, optimized for development with instant hot module replacement</a:t>
            </a:r>
            <a:r>
              <a:rPr lang="en-US" sz="32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b="1" dirty="0" smtClean="0"/>
              <a:t>Command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endParaRPr lang="en-US" sz="3200" b="1" dirty="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endParaRPr lang="en-US" sz="3200" b="1" dirty="0" smtClean="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IN" sz="3200" dirty="0">
                <a:hlinkClick r:id="rId4"/>
              </a:rPr>
              <a:t>Vite Documentation</a:t>
            </a:r>
            <a:endParaRPr lang="en-IN" sz="3200" b="1" dirty="0"/>
          </a:p>
        </p:txBody>
      </p:sp>
      <p:sp>
        <p:nvSpPr>
          <p:cNvPr id="12" name="Rounded Rectangle 11"/>
          <p:cNvSpPr/>
          <p:nvPr/>
        </p:nvSpPr>
        <p:spPr>
          <a:xfrm>
            <a:off x="4379327" y="6591300"/>
            <a:ext cx="10244137" cy="2092488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</a:rPr>
              <a:t>npm create vite@latest my-app --template </a:t>
            </a:r>
            <a:r>
              <a:rPr lang="en-US" sz="2000" b="1" dirty="0" smtClean="0">
                <a:solidFill>
                  <a:schemeClr val="bg1"/>
                </a:solidFill>
              </a:rPr>
              <a:t>react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chemeClr val="bg1"/>
                </a:solidFill>
              </a:rPr>
              <a:t>cd my-app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chemeClr val="bg1"/>
                </a:solidFill>
              </a:rPr>
              <a:t>npm install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chemeClr val="bg1"/>
                </a:solidFill>
              </a:rPr>
              <a:t>npm </a:t>
            </a:r>
            <a:r>
              <a:rPr lang="en-US" sz="2000" b="1" dirty="0">
                <a:solidFill>
                  <a:schemeClr val="bg1"/>
                </a:solidFill>
              </a:rPr>
              <a:t>run </a:t>
            </a:r>
            <a:r>
              <a:rPr lang="en-US" sz="2000" b="1" dirty="0" err="1" smtClean="0">
                <a:solidFill>
                  <a:schemeClr val="bg1"/>
                </a:solidFill>
              </a:rPr>
              <a:t>dev</a:t>
            </a:r>
            <a:endParaRPr lang="en-IN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103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028700"/>
            <a:ext cx="15240000" cy="8970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25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9" name="TextBox 22"/>
          <p:cNvSpPr txBox="1"/>
          <p:nvPr/>
        </p:nvSpPr>
        <p:spPr>
          <a:xfrm>
            <a:off x="3124200" y="4381500"/>
            <a:ext cx="118872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Let’s Check Our Understanding So far !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3782767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3" y="2781300"/>
            <a:ext cx="88793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1. React </a:t>
            </a:r>
            <a:r>
              <a:rPr lang="en-US" sz="3600" dirty="0">
                <a:solidFill>
                  <a:srgbClr val="374151"/>
                </a:solidFill>
                <a:latin typeface="Helvetica Neue"/>
              </a:rPr>
              <a:t>is mainly used for building _____.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92967" y="3453326"/>
            <a:ext cx="9144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0000"/>
                </a:solidFill>
                <a:latin typeface="Helvetica Neue"/>
              </a:rPr>
              <a:t>A</a:t>
            </a:r>
            <a:r>
              <a:rPr lang="en-US" sz="3600" b="1" dirty="0" smtClean="0">
                <a:solidFill>
                  <a:srgbClr val="000000"/>
                </a:solidFill>
                <a:latin typeface="Helvetica Neue"/>
              </a:rPr>
              <a:t>) </a:t>
            </a:r>
            <a:r>
              <a:rPr lang="en-US" sz="3600" dirty="0" smtClean="0">
                <a:solidFill>
                  <a:srgbClr val="000000"/>
                </a:solidFill>
                <a:latin typeface="var( --font-family-body-lesson-markdown"/>
              </a:rPr>
              <a:t>Database</a:t>
            </a:r>
            <a:endParaRPr lang="en-US" sz="3600" dirty="0">
              <a:solidFill>
                <a:srgbClr val="000000"/>
              </a:solidFill>
              <a:latin typeface="var( --font-family-body-lesson-markdown"/>
            </a:endParaRP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0000"/>
                </a:solidFill>
                <a:latin typeface="Helvetica Neue"/>
              </a:rPr>
              <a:t>B</a:t>
            </a:r>
            <a:r>
              <a:rPr lang="en-US" sz="3600" b="1" dirty="0" smtClean="0">
                <a:solidFill>
                  <a:srgbClr val="000000"/>
                </a:solidFill>
                <a:latin typeface="Helvetica Neue"/>
              </a:rPr>
              <a:t>) </a:t>
            </a:r>
            <a:r>
              <a:rPr lang="en-US" sz="3600" dirty="0" smtClean="0">
                <a:solidFill>
                  <a:srgbClr val="000000"/>
                </a:solidFill>
                <a:latin typeface="var( --font-family-body-lesson-markdown"/>
              </a:rPr>
              <a:t>Connectivity</a:t>
            </a:r>
            <a:endParaRPr lang="en-US" sz="3600" dirty="0">
              <a:solidFill>
                <a:srgbClr val="000000"/>
              </a:solidFill>
              <a:latin typeface="var( --font-family-body-lesson-markdown"/>
            </a:endParaRP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0000"/>
                </a:solidFill>
                <a:latin typeface="Helvetica Neue"/>
              </a:rPr>
              <a:t>C</a:t>
            </a:r>
            <a:r>
              <a:rPr lang="en-US" sz="3600" b="1" dirty="0" smtClean="0">
                <a:solidFill>
                  <a:srgbClr val="000000"/>
                </a:solidFill>
                <a:latin typeface="Helvetica Neue"/>
              </a:rPr>
              <a:t>) </a:t>
            </a:r>
            <a:r>
              <a:rPr lang="en-US" sz="3600" dirty="0" smtClean="0">
                <a:solidFill>
                  <a:srgbClr val="000000"/>
                </a:solidFill>
                <a:latin typeface="var( --font-family-body-lesson-markdown"/>
              </a:rPr>
              <a:t>User </a:t>
            </a:r>
            <a:r>
              <a:rPr lang="en-US" sz="3600" dirty="0">
                <a:solidFill>
                  <a:srgbClr val="000000"/>
                </a:solidFill>
                <a:latin typeface="var( --font-family-body-lesson-markdown"/>
              </a:rPr>
              <a:t>interfaces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0000"/>
                </a:solidFill>
                <a:latin typeface="Helvetica Neue"/>
              </a:rPr>
              <a:t>D</a:t>
            </a:r>
            <a:r>
              <a:rPr lang="en-US" sz="3600" b="1" dirty="0" smtClean="0">
                <a:solidFill>
                  <a:srgbClr val="000000"/>
                </a:solidFill>
                <a:latin typeface="Helvetica Neue"/>
              </a:rPr>
              <a:t>) </a:t>
            </a:r>
            <a:r>
              <a:rPr lang="en-US" sz="3600" dirty="0" smtClean="0">
                <a:solidFill>
                  <a:srgbClr val="000000"/>
                </a:solidFill>
                <a:latin typeface="var( --font-family-body-lesson-markdown"/>
              </a:rPr>
              <a:t>Design </a:t>
            </a:r>
            <a:r>
              <a:rPr lang="en-US" sz="3600" dirty="0">
                <a:solidFill>
                  <a:srgbClr val="000000"/>
                </a:solidFill>
                <a:latin typeface="var( --font-family-body-lesson-markdown"/>
              </a:rPr>
              <a:t>platform</a:t>
            </a:r>
            <a:endParaRPr lang="en-US" sz="3600" b="0" i="0" dirty="0">
              <a:solidFill>
                <a:srgbClr val="000000"/>
              </a:solidFill>
              <a:effectLst/>
              <a:latin typeface="var( --font-family-body-lesson-markdown"/>
            </a:endParaRPr>
          </a:p>
        </p:txBody>
      </p:sp>
    </p:spTree>
    <p:extLst>
      <p:ext uri="{BB962C8B-B14F-4D97-AF65-F5344CB8AC3E}">
        <p14:creationId xmlns:p14="http://schemas.microsoft.com/office/powerpoint/2010/main" val="191652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2" y="2781300"/>
            <a:ext cx="157606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374151"/>
                </a:solidFill>
                <a:latin typeface="Helvetica Neue"/>
              </a:rPr>
              <a:t>2</a:t>
            </a:r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. Which </a:t>
            </a:r>
            <a:r>
              <a:rPr lang="en-US" sz="3600" dirty="0">
                <a:solidFill>
                  <a:srgbClr val="374151"/>
                </a:solidFill>
                <a:latin typeface="Helvetica Neue"/>
              </a:rPr>
              <a:t>of the following is used to handle data </a:t>
            </a:r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in React ?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676400" y="3474109"/>
            <a:ext cx="9144000" cy="440979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4800" b="1" dirty="0"/>
              <a:t>A)</a:t>
            </a:r>
            <a:r>
              <a:rPr lang="en-US" sz="4800" dirty="0"/>
              <a:t>Component</a:t>
            </a:r>
          </a:p>
          <a:p>
            <a:pPr>
              <a:lnSpc>
                <a:spcPct val="150000"/>
              </a:lnSpc>
            </a:pPr>
            <a:r>
              <a:rPr lang="en-US" sz="4800" b="1" dirty="0"/>
              <a:t>B)</a:t>
            </a:r>
            <a:r>
              <a:rPr lang="en-US" sz="4800" dirty="0"/>
              <a:t>State</a:t>
            </a:r>
          </a:p>
          <a:p>
            <a:pPr>
              <a:lnSpc>
                <a:spcPct val="150000"/>
              </a:lnSpc>
            </a:pPr>
            <a:r>
              <a:rPr lang="en-US" sz="4800" b="1" dirty="0"/>
              <a:t>C)</a:t>
            </a:r>
            <a:r>
              <a:rPr lang="en-US" sz="4800" dirty="0"/>
              <a:t>Model</a:t>
            </a:r>
          </a:p>
          <a:p>
            <a:pPr>
              <a:lnSpc>
                <a:spcPct val="150000"/>
              </a:lnSpc>
            </a:pPr>
            <a:r>
              <a:rPr lang="en-US" sz="4800" b="1" dirty="0"/>
              <a:t>D)</a:t>
            </a:r>
            <a:r>
              <a:rPr lang="en-US" sz="4800" dirty="0"/>
              <a:t>None of the above</a:t>
            </a:r>
          </a:p>
        </p:txBody>
      </p:sp>
    </p:spTree>
    <p:extLst>
      <p:ext uri="{BB962C8B-B14F-4D97-AF65-F5344CB8AC3E}">
        <p14:creationId xmlns:p14="http://schemas.microsoft.com/office/powerpoint/2010/main" val="1522743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2" y="2781300"/>
            <a:ext cx="157606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374151"/>
                </a:solidFill>
                <a:latin typeface="Helvetica Neue"/>
              </a:rPr>
              <a:t>3. Which command is used to install create-react-app?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676400" y="3474109"/>
            <a:ext cx="9144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4800" dirty="0" smtClean="0">
                <a:solidFill>
                  <a:srgbClr val="C00000"/>
                </a:solidFill>
              </a:rPr>
              <a:t>A) npm </a:t>
            </a:r>
            <a:r>
              <a:rPr lang="en-US" sz="4800" dirty="0">
                <a:solidFill>
                  <a:srgbClr val="C00000"/>
                </a:solidFill>
              </a:rPr>
              <a:t>install -g create-react-app</a:t>
            </a:r>
          </a:p>
          <a:p>
            <a:pPr>
              <a:lnSpc>
                <a:spcPct val="150000"/>
              </a:lnSpc>
            </a:pPr>
            <a:r>
              <a:rPr lang="en-US" sz="4800" dirty="0" smtClean="0">
                <a:solidFill>
                  <a:srgbClr val="C00000"/>
                </a:solidFill>
              </a:rPr>
              <a:t>B) npm </a:t>
            </a:r>
            <a:r>
              <a:rPr lang="en-US" sz="4800" dirty="0">
                <a:solidFill>
                  <a:srgbClr val="C00000"/>
                </a:solidFill>
              </a:rPr>
              <a:t>create-react-app</a:t>
            </a:r>
          </a:p>
          <a:p>
            <a:pPr>
              <a:lnSpc>
                <a:spcPct val="150000"/>
              </a:lnSpc>
            </a:pPr>
            <a:r>
              <a:rPr lang="en-US" sz="4800" dirty="0" smtClean="0">
                <a:solidFill>
                  <a:srgbClr val="C00000"/>
                </a:solidFill>
              </a:rPr>
              <a:t>C) install </a:t>
            </a:r>
            <a:r>
              <a:rPr lang="en-US" sz="4800" dirty="0">
                <a:solidFill>
                  <a:srgbClr val="C00000"/>
                </a:solidFill>
              </a:rPr>
              <a:t>-g create-react-app</a:t>
            </a:r>
          </a:p>
          <a:p>
            <a:pPr>
              <a:lnSpc>
                <a:spcPct val="150000"/>
              </a:lnSpc>
            </a:pPr>
            <a:r>
              <a:rPr lang="en-US" sz="4800" dirty="0" smtClean="0">
                <a:solidFill>
                  <a:srgbClr val="C00000"/>
                </a:solidFill>
              </a:rPr>
              <a:t>D) None </a:t>
            </a:r>
            <a:r>
              <a:rPr lang="en-US" sz="4800" dirty="0">
                <a:solidFill>
                  <a:srgbClr val="C00000"/>
                </a:solidFill>
              </a:rPr>
              <a:t>of the above</a:t>
            </a:r>
          </a:p>
        </p:txBody>
      </p:sp>
    </p:spTree>
    <p:extLst>
      <p:ext uri="{BB962C8B-B14F-4D97-AF65-F5344CB8AC3E}">
        <p14:creationId xmlns:p14="http://schemas.microsoft.com/office/powerpoint/2010/main" val="2481919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2" y="2781300"/>
            <a:ext cx="157606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4</a:t>
            </a:r>
            <a:r>
              <a:rPr lang="en-US" sz="3600" dirty="0">
                <a:solidFill>
                  <a:srgbClr val="374151"/>
                </a:solidFill>
                <a:latin typeface="Helvetica Neue"/>
              </a:rPr>
              <a:t>. Everything in React is a _____.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676400" y="3474109"/>
            <a:ext cx="9144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4800" b="1" dirty="0"/>
              <a:t>A)</a:t>
            </a:r>
            <a:r>
              <a:rPr lang="en-IN" sz="4800" dirty="0"/>
              <a:t>Module</a:t>
            </a:r>
          </a:p>
          <a:p>
            <a:r>
              <a:rPr lang="en-IN" sz="4800" b="1" dirty="0"/>
              <a:t>B)</a:t>
            </a:r>
            <a:r>
              <a:rPr lang="en-IN" sz="4800" dirty="0"/>
              <a:t>Package</a:t>
            </a:r>
          </a:p>
          <a:p>
            <a:r>
              <a:rPr lang="en-IN" sz="4800" b="1" dirty="0"/>
              <a:t>C)</a:t>
            </a:r>
            <a:r>
              <a:rPr lang="en-IN" sz="4800" dirty="0"/>
              <a:t>Class</a:t>
            </a:r>
          </a:p>
          <a:p>
            <a:r>
              <a:rPr lang="en-IN" sz="4800" b="1" dirty="0"/>
              <a:t>D)</a:t>
            </a:r>
            <a:r>
              <a:rPr lang="en-IN" sz="4800" dirty="0"/>
              <a:t>Component</a:t>
            </a:r>
          </a:p>
        </p:txBody>
      </p:sp>
    </p:spTree>
    <p:extLst>
      <p:ext uri="{BB962C8B-B14F-4D97-AF65-F5344CB8AC3E}">
        <p14:creationId xmlns:p14="http://schemas.microsoft.com/office/powerpoint/2010/main" val="1331559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2" y="2781300"/>
            <a:ext cx="163441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374151"/>
                </a:solidFill>
                <a:latin typeface="Helvetica Neue"/>
              </a:rPr>
              <a:t>5</a:t>
            </a:r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.  The </a:t>
            </a:r>
            <a:r>
              <a:rPr lang="en-US" sz="3600" dirty="0">
                <a:solidFill>
                  <a:srgbClr val="374151"/>
                </a:solidFill>
                <a:latin typeface="Helvetica Neue"/>
              </a:rPr>
              <a:t>______ is an officially supported way to create a React application.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828800" y="3875901"/>
            <a:ext cx="9144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800" b="1" dirty="0" smtClean="0"/>
              <a:t>A) create</a:t>
            </a:r>
            <a:endParaRPr lang="en-US" sz="4800" b="1" dirty="0"/>
          </a:p>
          <a:p>
            <a:endParaRPr lang="en-US" sz="4800" b="1" dirty="0"/>
          </a:p>
          <a:p>
            <a:r>
              <a:rPr lang="en-US" sz="4800" b="1" dirty="0" smtClean="0"/>
              <a:t>B) react-app</a:t>
            </a:r>
            <a:endParaRPr lang="en-US" sz="4800" b="1" dirty="0"/>
          </a:p>
          <a:p>
            <a:endParaRPr lang="en-US" sz="4800" b="1" dirty="0"/>
          </a:p>
          <a:p>
            <a:r>
              <a:rPr lang="en-US" sz="4800" b="1" dirty="0" smtClean="0"/>
              <a:t>C) create-react-app</a:t>
            </a:r>
            <a:endParaRPr lang="en-US" sz="4800" b="1" dirty="0"/>
          </a:p>
          <a:p>
            <a:endParaRPr lang="en-US" sz="4800" b="1" dirty="0"/>
          </a:p>
          <a:p>
            <a:r>
              <a:rPr lang="en-US" sz="4800" b="1" dirty="0" smtClean="0"/>
              <a:t>D) create </a:t>
            </a:r>
            <a:r>
              <a:rPr lang="en-US" sz="4800" b="1" dirty="0"/>
              <a:t>react app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62388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2" y="2781300"/>
            <a:ext cx="163441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6. </a:t>
            </a:r>
            <a:r>
              <a:rPr lang="en-US" sz="3600" dirty="0"/>
              <a:t>What function allows you to render React content on an HTML page?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828800" y="3875901"/>
            <a:ext cx="9144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800" b="1" dirty="0" smtClean="0"/>
              <a:t>A) ReactDOM.render</a:t>
            </a:r>
            <a:r>
              <a:rPr lang="en-US" sz="4800" b="1" dirty="0"/>
              <a:t>()</a:t>
            </a:r>
          </a:p>
          <a:p>
            <a:endParaRPr lang="en-US" sz="4800" b="1" dirty="0"/>
          </a:p>
          <a:p>
            <a:r>
              <a:rPr lang="en-US" sz="4800" b="1" dirty="0" smtClean="0"/>
              <a:t>B) React.render</a:t>
            </a:r>
            <a:r>
              <a:rPr lang="en-US" sz="4800" b="1" dirty="0"/>
              <a:t>()</a:t>
            </a:r>
          </a:p>
          <a:p>
            <a:endParaRPr lang="en-US" sz="4800" b="1" dirty="0"/>
          </a:p>
          <a:p>
            <a:r>
              <a:rPr lang="en-US" sz="4800" b="1" dirty="0" smtClean="0"/>
              <a:t>C) React.mount</a:t>
            </a:r>
            <a:r>
              <a:rPr lang="en-US" sz="4800" b="1" dirty="0"/>
              <a:t>()</a:t>
            </a:r>
          </a:p>
          <a:p>
            <a:endParaRPr lang="en-US" sz="4800" b="1" dirty="0"/>
          </a:p>
          <a:p>
            <a:r>
              <a:rPr lang="en-US" sz="4800" b="1" dirty="0" smtClean="0"/>
              <a:t>D) ReactDOM.start</a:t>
            </a:r>
            <a:r>
              <a:rPr lang="en-US" sz="4800" b="1" dirty="0"/>
              <a:t>()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3724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2" y="2781300"/>
            <a:ext cx="163441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374151"/>
                </a:solidFill>
                <a:latin typeface="Helvetica Neue"/>
              </a:rPr>
              <a:t>7</a:t>
            </a:r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. </a:t>
            </a:r>
            <a:r>
              <a:rPr lang="en-US" sz="3600" dirty="0"/>
              <a:t>What is Reconciliation?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672856" y="3759656"/>
            <a:ext cx="147828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 smtClean="0"/>
              <a:t>A) It </a:t>
            </a:r>
            <a:r>
              <a:rPr lang="en-US" sz="4800" b="1" dirty="0"/>
              <a:t>is a process to set the state</a:t>
            </a:r>
          </a:p>
          <a:p>
            <a:endParaRPr lang="en-US" sz="4800" b="1" dirty="0"/>
          </a:p>
          <a:p>
            <a:r>
              <a:rPr lang="en-US" sz="4800" b="1" dirty="0" smtClean="0"/>
              <a:t>B) The </a:t>
            </a:r>
            <a:r>
              <a:rPr lang="en-US" sz="4800" b="1" dirty="0"/>
              <a:t>process through which React deletes the DOM</a:t>
            </a:r>
          </a:p>
          <a:p>
            <a:endParaRPr lang="en-US" sz="4800" b="1" dirty="0"/>
          </a:p>
          <a:p>
            <a:r>
              <a:rPr lang="en-US" sz="4800" b="1" dirty="0" smtClean="0"/>
              <a:t>C) The </a:t>
            </a:r>
            <a:r>
              <a:rPr lang="en-US" sz="4800" b="1" dirty="0"/>
              <a:t>process through which React updates the DOM</a:t>
            </a:r>
          </a:p>
          <a:p>
            <a:endParaRPr lang="en-US" sz="4800" b="1" dirty="0"/>
          </a:p>
          <a:p>
            <a:r>
              <a:rPr lang="en-US" sz="4800" b="1" dirty="0" smtClean="0"/>
              <a:t>D) None </a:t>
            </a:r>
            <a:r>
              <a:rPr lang="en-US" sz="4800" b="1" dirty="0"/>
              <a:t>of the above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77502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2" y="2781300"/>
            <a:ext cx="163441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8. </a:t>
            </a:r>
            <a:r>
              <a:rPr lang="en-US" sz="3600" dirty="0"/>
              <a:t>JSX allows us to write HTML elements in JavaScript and place them in the DOM without using the _____ method(s).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87651" y="4131438"/>
            <a:ext cx="14782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800" dirty="0" smtClean="0"/>
              <a:t>A) createElement</a:t>
            </a:r>
            <a:endParaRPr lang="en-US" sz="4800" dirty="0"/>
          </a:p>
          <a:p>
            <a:pPr>
              <a:lnSpc>
                <a:spcPct val="150000"/>
              </a:lnSpc>
            </a:pPr>
            <a:r>
              <a:rPr lang="en-US" sz="4800" dirty="0" smtClean="0"/>
              <a:t>B) getElementById</a:t>
            </a:r>
            <a:endParaRPr lang="en-US" sz="4800" dirty="0"/>
          </a:p>
          <a:p>
            <a:pPr>
              <a:lnSpc>
                <a:spcPct val="150000"/>
              </a:lnSpc>
            </a:pPr>
            <a:r>
              <a:rPr lang="en-US" sz="4800" dirty="0" smtClean="0"/>
              <a:t>C) All </a:t>
            </a:r>
            <a:r>
              <a:rPr lang="en-US" sz="4800" dirty="0"/>
              <a:t>of the </a:t>
            </a:r>
            <a:r>
              <a:rPr lang="en-US" sz="4800" dirty="0" smtClean="0"/>
              <a:t>above</a:t>
            </a:r>
            <a:endParaRPr lang="en-US" sz="4800" dirty="0"/>
          </a:p>
          <a:p>
            <a:pPr>
              <a:lnSpc>
                <a:spcPct val="150000"/>
              </a:lnSpc>
            </a:pPr>
            <a:r>
              <a:rPr lang="en-US" sz="4800" dirty="0" smtClean="0"/>
              <a:t>D) None </a:t>
            </a:r>
            <a:r>
              <a:rPr lang="en-US" sz="4800" dirty="0"/>
              <a:t>of the above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331435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2" y="2781300"/>
            <a:ext cx="163441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374151"/>
                </a:solidFill>
                <a:latin typeface="Helvetica Neue"/>
              </a:rPr>
              <a:t>9</a:t>
            </a:r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. </a:t>
            </a:r>
            <a:r>
              <a:rPr lang="en-US" sz="3600" dirty="0"/>
              <a:t>What command copies build dependencies, configuration files, and scripts into the app directory?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87651" y="4131438"/>
            <a:ext cx="14782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800" dirty="0" smtClean="0"/>
              <a:t>A) yarn </a:t>
            </a:r>
            <a:r>
              <a:rPr lang="en-US" sz="4800" dirty="0"/>
              <a:t>build</a:t>
            </a:r>
          </a:p>
          <a:p>
            <a:pPr>
              <a:lnSpc>
                <a:spcPct val="150000"/>
              </a:lnSpc>
            </a:pPr>
            <a:r>
              <a:rPr lang="en-US" sz="4800" dirty="0" smtClean="0"/>
              <a:t>B) yarn eject</a:t>
            </a:r>
            <a:endParaRPr lang="en-US" sz="4800" dirty="0"/>
          </a:p>
          <a:p>
            <a:pPr>
              <a:lnSpc>
                <a:spcPct val="150000"/>
              </a:lnSpc>
            </a:pPr>
            <a:r>
              <a:rPr lang="en-US" sz="4800" dirty="0" smtClean="0"/>
              <a:t>C) yarn start</a:t>
            </a:r>
            <a:endParaRPr lang="en-US" sz="4800" dirty="0"/>
          </a:p>
          <a:p>
            <a:pPr>
              <a:lnSpc>
                <a:spcPct val="150000"/>
              </a:lnSpc>
            </a:pPr>
            <a:r>
              <a:rPr lang="en-US" sz="4800" dirty="0" smtClean="0"/>
              <a:t>D) yarn </a:t>
            </a:r>
            <a:r>
              <a:rPr lang="en-US" sz="4800" dirty="0"/>
              <a:t>copy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424849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9" name="TextBox 22"/>
          <p:cNvSpPr txBox="1"/>
          <p:nvPr/>
        </p:nvSpPr>
        <p:spPr>
          <a:xfrm>
            <a:off x="8382000" y="4333568"/>
            <a:ext cx="5493972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8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 &amp; A</a:t>
            </a:r>
            <a:endParaRPr lang="en-US" sz="8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2846511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9" name="TextBox 22"/>
          <p:cNvSpPr txBox="1"/>
          <p:nvPr/>
        </p:nvSpPr>
        <p:spPr>
          <a:xfrm>
            <a:off x="7315200" y="4305300"/>
            <a:ext cx="5493972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Thank </a:t>
            </a: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You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3906512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1886</TotalTime>
  <Words>1054</Words>
  <Application>Microsoft Office PowerPoint</Application>
  <PresentationFormat>Custom</PresentationFormat>
  <Paragraphs>268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Open Sans Bold</vt:lpstr>
      <vt:lpstr>Wingdings</vt:lpstr>
      <vt:lpstr>Arial Unicode MS</vt:lpstr>
      <vt:lpstr>Barlow Condensed Bold</vt:lpstr>
      <vt:lpstr>var( --font-family-body-lesson-markdown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Bibhuranjan Mohanty</dc:creator>
  <cp:lastModifiedBy>pc</cp:lastModifiedBy>
  <cp:revision>52</cp:revision>
  <dcterms:created xsi:type="dcterms:W3CDTF">2006-08-16T00:00:00Z</dcterms:created>
  <dcterms:modified xsi:type="dcterms:W3CDTF">2024-11-14T11:25:29Z</dcterms:modified>
  <dc:identifier>DAGVxd3jlIM</dc:identifier>
</cp:coreProperties>
</file>